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Presentar al equipo y el producto. Decir en la primera frase: toda la IA corre en el navegador, la demo es localhost, no hay Vercel. No usar Atelier ni MPET como marca. Pasar a la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Leer la hoja de ruta. Avisar que la demo es el bloque largo y que si el mic o los modelos fallan hay plan B local, no un host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Tres ideas: el cuello de botella es hablar; no mandamos voz a la nube; el corazón del curso es DSP, no un chatbot. Cerrar con: la interfaz está en español y la práctica en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El dsp no importa React. El Analyser solo pinta onda; la STFT de curso es nuestra FFT radix-2. Los pesos van a Cache API; las sesiones a IndexedDB. GitHub es CI, no el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Insistir: el worklet de STFT cuelga de una pista clonada, no del Analyser, para que la onda no se muera en Realtek. El 0-100 no aparece en conversación. Luego mostrar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Señalar rail, composer y panel cerrado. La marca visible es Teacher. Luego pasar a la captura de Señales.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Esta captura es de la app real, no un mock. El Analyser no es la STFT del curso. Al detener se recalcula la utterance completa con las mismas funciones. Si el pitch queda oscuro, decir: YIN solo pinta frames voiced.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Esta es la slide operativa. Ideal: preview con modelos ya en caché. Si la red del aula está muerta y no se precargó, ir al ensayo. El ensayo no sustituye la demo con mic; es el plan B. Nunca proponer Pages o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Esta es la slide de nota técnica. FFT propia, MFCC propios, YIN, FIR medido. Si preguntan Nyquist: capturamos nativo y bajamos a 16 kHz porque la voz útil está bajo 8 kHz. No forzar sampleRate en getUserMedia.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Ser explícitos: no cumplimos 2 s con small-en. Lo elegimos por WER. tiny-en existe y su latencia no está medida. El presupuesto de 2 s es ASR+T5 visible, no SmolLM2.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No vender el score como ya cerrado con formantes. No vender 2 s. Primera visita &gt; 1 GB. Eso basta para parecer serios. Luego plan B y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Cerrar con el plan B y abrir preguntas. Si preguntan WER 0: solo en nuestras fixtures de referencia, no en cualquier acento. Si preguntan deploy: el producto es offline-first; GitHub es repo y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22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C8C4B8"/>
                </a:solidFill>
                <a:latin typeface="Calibri" pitchFamily="34" charset="0"/>
                <a:ea typeface="Calibri" pitchFamily="34" charset="-122"/>
                <a:cs typeface="Calibri" pitchFamily="34" charset="-120"/>
              </a:rPr>
              <a:t>SEÑALES Y SISTEMAS  ·  SEMANA 7</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C8C4B8"/>
                </a:solidFill>
                <a:latin typeface="Calibri" pitchFamily="34" charset="0"/>
                <a:ea typeface="Calibri" pitchFamily="34" charset="-122"/>
                <a:cs typeface="Calibri" pitchFamily="34" charset="-120"/>
              </a:rPr>
              <a:t>01 / 12</a:t>
            </a:r>
            <a:endParaRPr lang="en-US" sz="1100" dirty="0"/>
          </a:p>
        </p:txBody>
      </p:sp>
      <p:sp>
        <p:nvSpPr>
          <p:cNvPr id="4" name="Shape 2"/>
          <p:cNvSpPr/>
          <p:nvPr/>
        </p:nvSpPr>
        <p:spPr>
          <a:xfrm>
            <a:off x="685800" y="1234440"/>
            <a:ext cx="2331720" cy="347472"/>
          </a:xfrm>
          <a:prstGeom prst="rect">
            <a:avLst/>
          </a:prstGeom>
          <a:solidFill>
            <a:srgbClr val="2C322C"/>
          </a:solidFill>
          <a:ln w="9525">
            <a:solidFill>
              <a:srgbClr val="C8C4B8"/>
            </a:solidFill>
            <a:prstDash val="solid"/>
          </a:ln>
        </p:spPr>
      </p:sp>
      <p:sp>
        <p:nvSpPr>
          <p:cNvPr id="5" name="Text 3"/>
          <p:cNvSpPr/>
          <p:nvPr/>
        </p:nvSpPr>
        <p:spPr>
          <a:xfrm>
            <a:off x="685800" y="1234440"/>
            <a:ext cx="2331720" cy="347472"/>
          </a:xfrm>
          <a:prstGeom prst="rect">
            <a:avLst/>
          </a:prstGeom>
          <a:noFill/>
          <a:ln/>
        </p:spPr>
        <p:txBody>
          <a:bodyPr wrap="square" lIns="0" tIns="0" rIns="0" bIns="0" rtlCol="0" anchor="ctr"/>
          <a:lstStyle/>
          <a:p>
            <a:pPr algn="ctr" indent="0" marL="0">
              <a:buNone/>
            </a:pPr>
            <a:r>
              <a:rPr lang="en-US" sz="1200" spc="200" kern="0" dirty="0">
                <a:solidFill>
                  <a:srgbClr val="F4F2EC"/>
                </a:solidFill>
                <a:latin typeface="Calibri" pitchFamily="34" charset="0"/>
                <a:ea typeface="Calibri" pitchFamily="34" charset="-122"/>
                <a:cs typeface="Calibri" pitchFamily="34" charset="-120"/>
              </a:rPr>
              <a:t>AVANCE 2</a:t>
            </a:r>
            <a:endParaRPr lang="en-US" sz="1200" dirty="0"/>
          </a:p>
        </p:txBody>
      </p:sp>
      <p:sp>
        <p:nvSpPr>
          <p:cNvPr id="6" name="Text 4"/>
          <p:cNvSpPr/>
          <p:nvPr/>
        </p:nvSpPr>
        <p:spPr>
          <a:xfrm>
            <a:off x="685800" y="1828800"/>
            <a:ext cx="10515600" cy="1051560"/>
          </a:xfrm>
          <a:prstGeom prst="rect">
            <a:avLst/>
          </a:prstGeom>
          <a:noFill/>
          <a:ln/>
        </p:spPr>
        <p:txBody>
          <a:bodyPr wrap="square" lIns="0" tIns="0" rIns="0" bIns="0" rtlCol="0" anchor="ctr"/>
          <a:lstStyle/>
          <a:p>
            <a:pPr indent="0" marL="0">
              <a:buNone/>
            </a:pPr>
            <a:r>
              <a:rPr lang="en-US" sz="4000" dirty="0">
                <a:solidFill>
                  <a:srgbClr val="F4F2EC"/>
                </a:solidFill>
                <a:latin typeface="Georgia" pitchFamily="34" charset="0"/>
                <a:ea typeface="Georgia" pitchFamily="34" charset="-122"/>
                <a:cs typeface="Georgia" pitchFamily="34" charset="-120"/>
              </a:rPr>
              <a:t>My Personal English Teacher</a:t>
            </a:r>
            <a:endParaRPr lang="en-US" sz="4000" dirty="0"/>
          </a:p>
        </p:txBody>
      </p:sp>
      <p:sp>
        <p:nvSpPr>
          <p:cNvPr id="7" name="Text 5"/>
          <p:cNvSpPr/>
          <p:nvPr/>
        </p:nvSpPr>
        <p:spPr>
          <a:xfrm>
            <a:off x="685800" y="2971800"/>
            <a:ext cx="9326880" cy="640080"/>
          </a:xfrm>
          <a:prstGeom prst="rect">
            <a:avLst/>
          </a:prstGeom>
          <a:noFill/>
          <a:ln/>
        </p:spPr>
        <p:txBody>
          <a:bodyPr wrap="square" lIns="0" tIns="0" rIns="0" bIns="0" rtlCol="0" anchor="ctr"/>
          <a:lstStyle/>
          <a:p>
            <a:pPr indent="0" marL="0">
              <a:buNone/>
            </a:pPr>
            <a:r>
              <a:rPr lang="en-US" sz="1800" dirty="0">
                <a:solidFill>
                  <a:srgbClr val="C8C4B8"/>
                </a:solidFill>
                <a:latin typeface="Calibri" pitchFamily="34" charset="0"/>
                <a:ea typeface="Calibri" pitchFamily="34" charset="-122"/>
                <a:cs typeface="Calibri" pitchFamily="34" charset="-120"/>
              </a:rPr>
              <a:t>Práctica oral de inglés en el navegador, con señales de voz e IA local.</a:t>
            </a:r>
            <a:endParaRPr lang="en-US" sz="1800" dirty="0"/>
          </a:p>
        </p:txBody>
      </p:sp>
      <p:sp>
        <p:nvSpPr>
          <p:cNvPr id="8" name="Text 6"/>
          <p:cNvSpPr/>
          <p:nvPr/>
        </p:nvSpPr>
        <p:spPr>
          <a:xfrm>
            <a:off x="685800" y="5074920"/>
            <a:ext cx="9144000" cy="640080"/>
          </a:xfrm>
          <a:prstGeom prst="rect">
            <a:avLst/>
          </a:prstGeom>
          <a:noFill/>
          <a:ln/>
        </p:spPr>
        <p:txBody>
          <a:bodyPr wrap="square" lIns="0" tIns="0" rIns="0" bIns="0" rtlCol="0" anchor="ctr"/>
          <a:lstStyle/>
          <a:p>
            <a:pPr indent="0" marL="0">
              <a:buNone/>
            </a:pPr>
            <a:r>
              <a:rPr lang="en-US" sz="1400" dirty="0">
                <a:solidFill>
                  <a:srgbClr val="C8C4B8"/>
                </a:solidFill>
                <a:latin typeface="Calibri" pitchFamily="34" charset="0"/>
                <a:ea typeface="Calibri" pitchFamily="34" charset="-122"/>
                <a:cs typeface="Calibri" pitchFamily="34" charset="-120"/>
              </a:rPr>
              <a:t>Jahel  ·  Rebeca  ·  Luna  ·  Saúl  ·  César</a:t>
            </a:r>
            <a:endParaRPr lang="en-US" sz="1400" dirty="0"/>
          </a:p>
          <a:p>
            <a:pPr indent="0" marL="0">
              <a:buNone/>
            </a:pPr>
            <a:r>
              <a:rPr lang="en-US" sz="1400" dirty="0">
                <a:solidFill>
                  <a:srgbClr val="C8C4B8"/>
                </a:solidFill>
                <a:latin typeface="Calibri" pitchFamily="34" charset="0"/>
                <a:ea typeface="Calibri" pitchFamily="34" charset="-122"/>
                <a:cs typeface="Calibri" pitchFamily="34" charset="-120"/>
              </a:rPr>
              <a:t>Demo: localhost  ·  sin nube  ·  10–15 minutos</a:t>
            </a:r>
            <a:endParaRPr lang="en-US" sz="1400" dirty="0"/>
          </a:p>
        </p:txBody>
      </p:sp>
      <p:sp>
        <p:nvSpPr>
          <p:cNvPr id="9" name="Text 7"/>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C8C4B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HOJA DE RUTA</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02 / 12</a:t>
            </a:r>
            <a:endParaRPr lang="en-US" sz="1100" dirty="0"/>
          </a:p>
        </p:txBody>
      </p:sp>
      <p:sp>
        <p:nvSpPr>
          <p:cNvPr id="4" name="Text 2"/>
          <p:cNvSpPr/>
          <p:nvPr/>
        </p:nvSpPr>
        <p:spPr>
          <a:xfrm>
            <a:off x="685800" y="640080"/>
            <a:ext cx="10058400" cy="502920"/>
          </a:xfrm>
          <a:prstGeom prst="rect">
            <a:avLst/>
          </a:prstGeom>
          <a:noFill/>
          <a:ln/>
        </p:spPr>
        <p:txBody>
          <a:bodyPr wrap="square" lIns="0" tIns="0" rIns="0" bIns="0" rtlCol="0" anchor="ctr"/>
          <a:lstStyle/>
          <a:p>
            <a:pPr indent="0" marL="0">
              <a:buNone/>
            </a:pPr>
            <a:r>
              <a:rPr lang="en-US" sz="2800" dirty="0">
                <a:solidFill>
                  <a:srgbClr val="2C322C"/>
                </a:solidFill>
                <a:latin typeface="Georgia" pitchFamily="34" charset="0"/>
                <a:ea typeface="Georgia" pitchFamily="34" charset="-122"/>
                <a:cs typeface="Georgia" pitchFamily="34" charset="-120"/>
              </a:rPr>
              <a:t>Doce minutos, luego la demo.</a:t>
            </a:r>
            <a:endParaRPr lang="en-US" sz="2800" dirty="0"/>
          </a:p>
        </p:txBody>
      </p:sp>
      <p:sp>
        <p:nvSpPr>
          <p:cNvPr id="5" name="Shape 3"/>
          <p:cNvSpPr/>
          <p:nvPr/>
        </p:nvSpPr>
        <p:spPr>
          <a:xfrm>
            <a:off x="685800" y="137160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14400" y="1371600"/>
            <a:ext cx="731520" cy="777240"/>
          </a:xfrm>
          <a:prstGeom prst="rect">
            <a:avLst/>
          </a:prstGeom>
          <a:noFill/>
          <a:ln/>
        </p:spPr>
        <p:txBody>
          <a:bodyPr wrap="square" lIns="0" tIns="0" rIns="0" bIns="0" rtlCol="0" anchor="ctr"/>
          <a:lstStyle/>
          <a:p>
            <a:pPr indent="0" marL="0">
              <a:buNone/>
            </a:pPr>
            <a:r>
              <a:rPr lang="en-US" sz="2000" dirty="0">
                <a:solidFill>
                  <a:srgbClr val="4A6B50"/>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1737360" y="1371600"/>
            <a:ext cx="1188720" cy="777240"/>
          </a:xfrm>
          <a:prstGeom prst="rect">
            <a:avLst/>
          </a:prstGeom>
          <a:noFill/>
          <a:ln/>
        </p:spPr>
        <p:txBody>
          <a:bodyPr wrap="square" lIns="0" tIns="0" rIns="0" bIns="0" rtlCol="0" anchor="ctr"/>
          <a:lstStyle/>
          <a:p>
            <a:pPr indent="0" marL="0">
              <a:buNone/>
            </a:pPr>
            <a:r>
              <a:rPr lang="en-US" sz="1400" dirty="0">
                <a:solidFill>
                  <a:srgbClr val="6A7068"/>
                </a:solidFill>
                <a:latin typeface="Consolas" pitchFamily="34" charset="0"/>
                <a:ea typeface="Consolas" pitchFamily="34" charset="-122"/>
                <a:cs typeface="Consolas" pitchFamily="34" charset="-120"/>
              </a:rPr>
              <a:t>1 min</a:t>
            </a:r>
            <a:endParaRPr lang="en-US" sz="1400" dirty="0"/>
          </a:p>
        </p:txBody>
      </p:sp>
      <p:sp>
        <p:nvSpPr>
          <p:cNvPr id="8" name="Text 6"/>
          <p:cNvSpPr/>
          <p:nvPr/>
        </p:nvSpPr>
        <p:spPr>
          <a:xfrm>
            <a:off x="3063240" y="1371600"/>
            <a:ext cx="8046720" cy="77724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Problema y por qué es local</a:t>
            </a:r>
            <a:endParaRPr lang="en-US" sz="1800" dirty="0"/>
          </a:p>
        </p:txBody>
      </p:sp>
      <p:sp>
        <p:nvSpPr>
          <p:cNvPr id="9" name="Shape 7"/>
          <p:cNvSpPr/>
          <p:nvPr/>
        </p:nvSpPr>
        <p:spPr>
          <a:xfrm>
            <a:off x="685800" y="224028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0" name="Text 8"/>
          <p:cNvSpPr/>
          <p:nvPr/>
        </p:nvSpPr>
        <p:spPr>
          <a:xfrm>
            <a:off x="914400" y="2240280"/>
            <a:ext cx="731520" cy="777240"/>
          </a:xfrm>
          <a:prstGeom prst="rect">
            <a:avLst/>
          </a:prstGeom>
          <a:noFill/>
          <a:ln/>
        </p:spPr>
        <p:txBody>
          <a:bodyPr wrap="square" lIns="0" tIns="0" rIns="0" bIns="0" rtlCol="0" anchor="ctr"/>
          <a:lstStyle/>
          <a:p>
            <a:pPr indent="0" marL="0">
              <a:buNone/>
            </a:pPr>
            <a:r>
              <a:rPr lang="en-US" sz="2000" dirty="0">
                <a:solidFill>
                  <a:srgbClr val="4A6B50"/>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1737360" y="2240280"/>
            <a:ext cx="1188720" cy="777240"/>
          </a:xfrm>
          <a:prstGeom prst="rect">
            <a:avLst/>
          </a:prstGeom>
          <a:noFill/>
          <a:ln/>
        </p:spPr>
        <p:txBody>
          <a:bodyPr wrap="square" lIns="0" tIns="0" rIns="0" bIns="0" rtlCol="0" anchor="ctr"/>
          <a:lstStyle/>
          <a:p>
            <a:pPr indent="0" marL="0">
              <a:buNone/>
            </a:pPr>
            <a:r>
              <a:rPr lang="en-US" sz="1400" dirty="0">
                <a:solidFill>
                  <a:srgbClr val="6A7068"/>
                </a:solidFill>
                <a:latin typeface="Consolas" pitchFamily="34" charset="0"/>
                <a:ea typeface="Consolas" pitchFamily="34" charset="-122"/>
                <a:cs typeface="Consolas" pitchFamily="34" charset="-120"/>
              </a:rPr>
              <a:t>2 min</a:t>
            </a:r>
            <a:endParaRPr lang="en-US" sz="1400" dirty="0"/>
          </a:p>
        </p:txBody>
      </p:sp>
      <p:sp>
        <p:nvSpPr>
          <p:cNvPr id="12" name="Text 10"/>
          <p:cNvSpPr/>
          <p:nvPr/>
        </p:nvSpPr>
        <p:spPr>
          <a:xfrm>
            <a:off x="3063240" y="2240280"/>
            <a:ext cx="8046720" cy="77724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Arquitectura de capas</a:t>
            </a:r>
            <a:endParaRPr lang="en-US" sz="1800" dirty="0"/>
          </a:p>
        </p:txBody>
      </p:sp>
      <p:sp>
        <p:nvSpPr>
          <p:cNvPr id="13" name="Shape 11"/>
          <p:cNvSpPr/>
          <p:nvPr/>
        </p:nvSpPr>
        <p:spPr>
          <a:xfrm>
            <a:off x="685800" y="310896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4" name="Text 12"/>
          <p:cNvSpPr/>
          <p:nvPr/>
        </p:nvSpPr>
        <p:spPr>
          <a:xfrm>
            <a:off x="914400" y="3108960"/>
            <a:ext cx="731520" cy="777240"/>
          </a:xfrm>
          <a:prstGeom prst="rect">
            <a:avLst/>
          </a:prstGeom>
          <a:noFill/>
          <a:ln/>
        </p:spPr>
        <p:txBody>
          <a:bodyPr wrap="square" lIns="0" tIns="0" rIns="0" bIns="0" rtlCol="0" anchor="ctr"/>
          <a:lstStyle/>
          <a:p>
            <a:pPr indent="0" marL="0">
              <a:buNone/>
            </a:pPr>
            <a:r>
              <a:rPr lang="en-US" sz="2000" dirty="0">
                <a:solidFill>
                  <a:srgbClr val="4A6B50"/>
                </a:solidFill>
                <a:latin typeface="Georgia" pitchFamily="34" charset="0"/>
                <a:ea typeface="Georgia" pitchFamily="34" charset="-122"/>
                <a:cs typeface="Georgia" pitchFamily="34" charset="-120"/>
              </a:rPr>
              <a:t>03</a:t>
            </a:r>
            <a:endParaRPr lang="en-US" sz="2000" dirty="0"/>
          </a:p>
        </p:txBody>
      </p:sp>
      <p:sp>
        <p:nvSpPr>
          <p:cNvPr id="15" name="Text 13"/>
          <p:cNvSpPr/>
          <p:nvPr/>
        </p:nvSpPr>
        <p:spPr>
          <a:xfrm>
            <a:off x="1737360" y="3108960"/>
            <a:ext cx="1188720" cy="777240"/>
          </a:xfrm>
          <a:prstGeom prst="rect">
            <a:avLst/>
          </a:prstGeom>
          <a:noFill/>
          <a:ln/>
        </p:spPr>
        <p:txBody>
          <a:bodyPr wrap="square" lIns="0" tIns="0" rIns="0" bIns="0" rtlCol="0" anchor="ctr"/>
          <a:lstStyle/>
          <a:p>
            <a:pPr indent="0" marL="0">
              <a:buNone/>
            </a:pPr>
            <a:r>
              <a:rPr lang="en-US" sz="1400" dirty="0">
                <a:solidFill>
                  <a:srgbClr val="6A7068"/>
                </a:solidFill>
                <a:latin typeface="Consolas" pitchFamily="34" charset="0"/>
                <a:ea typeface="Consolas" pitchFamily="34" charset="-122"/>
                <a:cs typeface="Consolas" pitchFamily="34" charset="-120"/>
              </a:rPr>
              <a:t>5 min</a:t>
            </a:r>
            <a:endParaRPr lang="en-US" sz="1400" dirty="0"/>
          </a:p>
        </p:txBody>
      </p:sp>
      <p:sp>
        <p:nvSpPr>
          <p:cNvPr id="16" name="Text 14"/>
          <p:cNvSpPr/>
          <p:nvPr/>
        </p:nvSpPr>
        <p:spPr>
          <a:xfrm>
            <a:off x="3063240" y="3108960"/>
            <a:ext cx="8046720" cy="77724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Pipeline y demo en vivo</a:t>
            </a:r>
            <a:endParaRPr lang="en-US" sz="1800" dirty="0"/>
          </a:p>
        </p:txBody>
      </p:sp>
      <p:sp>
        <p:nvSpPr>
          <p:cNvPr id="17" name="Shape 15"/>
          <p:cNvSpPr/>
          <p:nvPr/>
        </p:nvSpPr>
        <p:spPr>
          <a:xfrm>
            <a:off x="685800" y="397764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8" name="Text 16"/>
          <p:cNvSpPr/>
          <p:nvPr/>
        </p:nvSpPr>
        <p:spPr>
          <a:xfrm>
            <a:off x="914400" y="3977640"/>
            <a:ext cx="731520" cy="777240"/>
          </a:xfrm>
          <a:prstGeom prst="rect">
            <a:avLst/>
          </a:prstGeom>
          <a:noFill/>
          <a:ln/>
        </p:spPr>
        <p:txBody>
          <a:bodyPr wrap="square" lIns="0" tIns="0" rIns="0" bIns="0" rtlCol="0" anchor="ctr"/>
          <a:lstStyle/>
          <a:p>
            <a:pPr indent="0" marL="0">
              <a:buNone/>
            </a:pPr>
            <a:r>
              <a:rPr lang="en-US" sz="2000" dirty="0">
                <a:solidFill>
                  <a:srgbClr val="4A6B50"/>
                </a:solidFill>
                <a:latin typeface="Georgia" pitchFamily="34" charset="0"/>
                <a:ea typeface="Georgia" pitchFamily="34" charset="-122"/>
                <a:cs typeface="Georgia" pitchFamily="34" charset="-120"/>
              </a:rPr>
              <a:t>04</a:t>
            </a:r>
            <a:endParaRPr lang="en-US" sz="2000" dirty="0"/>
          </a:p>
        </p:txBody>
      </p:sp>
      <p:sp>
        <p:nvSpPr>
          <p:cNvPr id="19" name="Text 17"/>
          <p:cNvSpPr/>
          <p:nvPr/>
        </p:nvSpPr>
        <p:spPr>
          <a:xfrm>
            <a:off x="1737360" y="3977640"/>
            <a:ext cx="1188720" cy="777240"/>
          </a:xfrm>
          <a:prstGeom prst="rect">
            <a:avLst/>
          </a:prstGeom>
          <a:noFill/>
          <a:ln/>
        </p:spPr>
        <p:txBody>
          <a:bodyPr wrap="square" lIns="0" tIns="0" rIns="0" bIns="0" rtlCol="0" anchor="ctr"/>
          <a:lstStyle/>
          <a:p>
            <a:pPr indent="0" marL="0">
              <a:buNone/>
            </a:pPr>
            <a:r>
              <a:rPr lang="en-US" sz="1400" dirty="0">
                <a:solidFill>
                  <a:srgbClr val="6A7068"/>
                </a:solidFill>
                <a:latin typeface="Consolas" pitchFamily="34" charset="0"/>
                <a:ea typeface="Consolas" pitchFamily="34" charset="-122"/>
                <a:cs typeface="Consolas" pitchFamily="34" charset="-120"/>
              </a:rPr>
              <a:t>3 min</a:t>
            </a:r>
            <a:endParaRPr lang="en-US" sz="1400" dirty="0"/>
          </a:p>
        </p:txBody>
      </p:sp>
      <p:sp>
        <p:nvSpPr>
          <p:cNvPr id="20" name="Text 18"/>
          <p:cNvSpPr/>
          <p:nvPr/>
        </p:nvSpPr>
        <p:spPr>
          <a:xfrm>
            <a:off x="3063240" y="3977640"/>
            <a:ext cx="8046720" cy="77724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DSP: YIN, MFCC, DTW, score</a:t>
            </a:r>
            <a:endParaRPr lang="en-US" sz="1800" dirty="0"/>
          </a:p>
        </p:txBody>
      </p:sp>
      <p:sp>
        <p:nvSpPr>
          <p:cNvPr id="21" name="Shape 19"/>
          <p:cNvSpPr/>
          <p:nvPr/>
        </p:nvSpPr>
        <p:spPr>
          <a:xfrm>
            <a:off x="685800" y="484632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2" name="Text 20"/>
          <p:cNvSpPr/>
          <p:nvPr/>
        </p:nvSpPr>
        <p:spPr>
          <a:xfrm>
            <a:off x="914400" y="4846320"/>
            <a:ext cx="731520" cy="777240"/>
          </a:xfrm>
          <a:prstGeom prst="rect">
            <a:avLst/>
          </a:prstGeom>
          <a:noFill/>
          <a:ln/>
        </p:spPr>
        <p:txBody>
          <a:bodyPr wrap="square" lIns="0" tIns="0" rIns="0" bIns="0" rtlCol="0" anchor="ctr"/>
          <a:lstStyle/>
          <a:p>
            <a:pPr indent="0" marL="0">
              <a:buNone/>
            </a:pPr>
            <a:r>
              <a:rPr lang="en-US" sz="2000" dirty="0">
                <a:solidFill>
                  <a:srgbClr val="4A6B50"/>
                </a:solidFill>
                <a:latin typeface="Georgia" pitchFamily="34" charset="0"/>
                <a:ea typeface="Georgia" pitchFamily="34" charset="-122"/>
                <a:cs typeface="Georgia" pitchFamily="34" charset="-120"/>
              </a:rPr>
              <a:t>05</a:t>
            </a:r>
            <a:endParaRPr lang="en-US" sz="2000" dirty="0"/>
          </a:p>
        </p:txBody>
      </p:sp>
      <p:sp>
        <p:nvSpPr>
          <p:cNvPr id="23" name="Text 21"/>
          <p:cNvSpPr/>
          <p:nvPr/>
        </p:nvSpPr>
        <p:spPr>
          <a:xfrm>
            <a:off x="1737360" y="4846320"/>
            <a:ext cx="1188720" cy="777240"/>
          </a:xfrm>
          <a:prstGeom prst="rect">
            <a:avLst/>
          </a:prstGeom>
          <a:noFill/>
          <a:ln/>
        </p:spPr>
        <p:txBody>
          <a:bodyPr wrap="square" lIns="0" tIns="0" rIns="0" bIns="0" rtlCol="0" anchor="ctr"/>
          <a:lstStyle/>
          <a:p>
            <a:pPr indent="0" marL="0">
              <a:buNone/>
            </a:pPr>
            <a:r>
              <a:rPr lang="en-US" sz="1400" dirty="0">
                <a:solidFill>
                  <a:srgbClr val="6A7068"/>
                </a:solidFill>
                <a:latin typeface="Consolas" pitchFamily="34" charset="0"/>
                <a:ea typeface="Consolas" pitchFamily="34" charset="-122"/>
                <a:cs typeface="Consolas" pitchFamily="34" charset="-120"/>
              </a:rPr>
              <a:t>2 min</a:t>
            </a:r>
            <a:endParaRPr lang="en-US" sz="1400" dirty="0"/>
          </a:p>
        </p:txBody>
      </p:sp>
      <p:sp>
        <p:nvSpPr>
          <p:cNvPr id="24" name="Text 22"/>
          <p:cNvSpPr/>
          <p:nvPr/>
        </p:nvSpPr>
        <p:spPr>
          <a:xfrm>
            <a:off x="3063240" y="4846320"/>
            <a:ext cx="8046720" cy="77724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Límites honestos y Entrega Final</a:t>
            </a:r>
            <a:endParaRPr lang="en-US" sz="1800" dirty="0"/>
          </a:p>
        </p:txBody>
      </p:sp>
      <p:sp>
        <p:nvSpPr>
          <p:cNvPr id="25" name="Text 23"/>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PROBLEMA</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03 / 12</a:t>
            </a:r>
            <a:endParaRPr lang="en-US" sz="1100" dirty="0"/>
          </a:p>
        </p:txBody>
      </p:sp>
      <p:sp>
        <p:nvSpPr>
          <p:cNvPr id="4" name="Text 2"/>
          <p:cNvSpPr/>
          <p:nvPr/>
        </p:nvSpPr>
        <p:spPr>
          <a:xfrm>
            <a:off x="685800" y="640080"/>
            <a:ext cx="10972800" cy="914400"/>
          </a:xfrm>
          <a:prstGeom prst="rect">
            <a:avLst/>
          </a:prstGeom>
          <a:noFill/>
          <a:ln/>
        </p:spPr>
        <p:txBody>
          <a:bodyPr wrap="square" lIns="0" tIns="0" rIns="0" bIns="0" rtlCol="0" anchor="ctr"/>
          <a:lstStyle/>
          <a:p>
            <a:pPr indent="0" marL="0">
              <a:buNone/>
            </a:pPr>
            <a:r>
              <a:rPr lang="en-US" sz="2600" dirty="0">
                <a:solidFill>
                  <a:srgbClr val="2C322C"/>
                </a:solidFill>
                <a:latin typeface="Georgia" pitchFamily="34" charset="0"/>
                <a:ea typeface="Georgia" pitchFamily="34" charset="-122"/>
                <a:cs typeface="Georgia" pitchFamily="34" charset="-120"/>
              </a:rPr>
              <a:t>Practicar hablar inglés pide un interlocutor. La nube no encaja en el aula.</a:t>
            </a:r>
            <a:endParaRPr lang="en-US" sz="2600" dirty="0"/>
          </a:p>
        </p:txBody>
      </p:sp>
      <p:sp>
        <p:nvSpPr>
          <p:cNvPr id="5" name="Shape 3"/>
          <p:cNvSpPr/>
          <p:nvPr/>
        </p:nvSpPr>
        <p:spPr>
          <a:xfrm>
            <a:off x="685800" y="1828800"/>
            <a:ext cx="3474720" cy="3291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Shape 4"/>
          <p:cNvSpPr/>
          <p:nvPr/>
        </p:nvSpPr>
        <p:spPr>
          <a:xfrm>
            <a:off x="685800" y="1828800"/>
            <a:ext cx="109728" cy="3291840"/>
          </a:xfrm>
          <a:prstGeom prst="rect">
            <a:avLst/>
          </a:prstGeom>
          <a:solidFill>
            <a:srgbClr val="4A6B50"/>
          </a:solidFill>
          <a:ln/>
        </p:spPr>
      </p:sp>
      <p:sp>
        <p:nvSpPr>
          <p:cNvPr id="7" name="Text 5"/>
          <p:cNvSpPr/>
          <p:nvPr/>
        </p:nvSpPr>
        <p:spPr>
          <a:xfrm>
            <a:off x="1005840" y="2011680"/>
            <a:ext cx="2971800" cy="1005840"/>
          </a:xfrm>
          <a:prstGeom prst="rect">
            <a:avLst/>
          </a:prstGeom>
          <a:noFill/>
          <a:ln/>
        </p:spPr>
        <p:txBody>
          <a:bodyPr wrap="square" lIns="0" tIns="0" rIns="0" bIns="0" rtlCol="0" anchor="ctr"/>
          <a:lstStyle/>
          <a:p>
            <a:pPr indent="0" marL="0">
              <a:buNone/>
            </a:pPr>
            <a:r>
              <a:rPr lang="en-US" sz="1800" dirty="0">
                <a:solidFill>
                  <a:srgbClr val="2C322C"/>
                </a:solidFill>
                <a:latin typeface="Georgia" pitchFamily="34" charset="0"/>
                <a:ea typeface="Georgia" pitchFamily="34" charset="-122"/>
                <a:cs typeface="Georgia" pitchFamily="34" charset="-120"/>
              </a:rPr>
              <a:t>Producción, no vocabulario</a:t>
            </a:r>
            <a:endParaRPr lang="en-US" sz="1800" dirty="0"/>
          </a:p>
        </p:txBody>
      </p:sp>
      <p:sp>
        <p:nvSpPr>
          <p:cNvPr id="8" name="Text 6"/>
          <p:cNvSpPr/>
          <p:nvPr/>
        </p:nvSpPr>
        <p:spPr>
          <a:xfrm>
            <a:off x="1005840" y="3108960"/>
            <a:ext cx="2971800" cy="17373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Pronunciación, gramática en tiempo real y fluidez. El estudiante hispanohablante necesita feedback en español.</a:t>
            </a:r>
            <a:endParaRPr lang="en-US" sz="1500" dirty="0"/>
          </a:p>
        </p:txBody>
      </p:sp>
      <p:sp>
        <p:nvSpPr>
          <p:cNvPr id="9" name="Shape 7"/>
          <p:cNvSpPr/>
          <p:nvPr/>
        </p:nvSpPr>
        <p:spPr>
          <a:xfrm>
            <a:off x="4343400" y="1828800"/>
            <a:ext cx="3474720" cy="3291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0" name="Shape 8"/>
          <p:cNvSpPr/>
          <p:nvPr/>
        </p:nvSpPr>
        <p:spPr>
          <a:xfrm>
            <a:off x="4343400" y="1828800"/>
            <a:ext cx="109728" cy="3291840"/>
          </a:xfrm>
          <a:prstGeom prst="rect">
            <a:avLst/>
          </a:prstGeom>
          <a:solidFill>
            <a:srgbClr val="4A6B50"/>
          </a:solidFill>
          <a:ln/>
        </p:spPr>
      </p:sp>
      <p:sp>
        <p:nvSpPr>
          <p:cNvPr id="11" name="Text 9"/>
          <p:cNvSpPr/>
          <p:nvPr/>
        </p:nvSpPr>
        <p:spPr>
          <a:xfrm>
            <a:off x="4663440" y="2011680"/>
            <a:ext cx="2971800" cy="1005840"/>
          </a:xfrm>
          <a:prstGeom prst="rect">
            <a:avLst/>
          </a:prstGeom>
          <a:noFill/>
          <a:ln/>
        </p:spPr>
        <p:txBody>
          <a:bodyPr wrap="square" lIns="0" tIns="0" rIns="0" bIns="0" rtlCol="0" anchor="ctr"/>
          <a:lstStyle/>
          <a:p>
            <a:pPr indent="0" marL="0">
              <a:buNone/>
            </a:pPr>
            <a:r>
              <a:rPr lang="en-US" sz="1800" dirty="0">
                <a:solidFill>
                  <a:srgbClr val="2C322C"/>
                </a:solidFill>
                <a:latin typeface="Georgia" pitchFamily="34" charset="0"/>
                <a:ea typeface="Georgia" pitchFamily="34" charset="-122"/>
                <a:cs typeface="Georgia" pitchFamily="34" charset="-120"/>
              </a:rPr>
              <a:t>La voz es biométrica</a:t>
            </a:r>
            <a:endParaRPr lang="en-US" sz="1800" dirty="0"/>
          </a:p>
        </p:txBody>
      </p:sp>
      <p:sp>
        <p:nvSpPr>
          <p:cNvPr id="12" name="Text 10"/>
          <p:cNvSpPr/>
          <p:nvPr/>
        </p:nvSpPr>
        <p:spPr>
          <a:xfrm>
            <a:off x="4663440" y="3108960"/>
            <a:ext cx="2971800" cy="17373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Enviar audio a un servidor suma latencia, costo y exposición. El enunciado pide edge AI.</a:t>
            </a:r>
            <a:endParaRPr lang="en-US" sz="1500" dirty="0"/>
          </a:p>
        </p:txBody>
      </p:sp>
      <p:sp>
        <p:nvSpPr>
          <p:cNvPr id="13" name="Shape 11"/>
          <p:cNvSpPr/>
          <p:nvPr/>
        </p:nvSpPr>
        <p:spPr>
          <a:xfrm>
            <a:off x="8001000" y="1828800"/>
            <a:ext cx="3474720" cy="3291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4" name="Shape 12"/>
          <p:cNvSpPr/>
          <p:nvPr/>
        </p:nvSpPr>
        <p:spPr>
          <a:xfrm>
            <a:off x="8001000" y="1828800"/>
            <a:ext cx="109728" cy="3291840"/>
          </a:xfrm>
          <a:prstGeom prst="rect">
            <a:avLst/>
          </a:prstGeom>
          <a:solidFill>
            <a:srgbClr val="4A6B50"/>
          </a:solidFill>
          <a:ln/>
        </p:spPr>
      </p:sp>
      <p:sp>
        <p:nvSpPr>
          <p:cNvPr id="15" name="Text 13"/>
          <p:cNvSpPr/>
          <p:nvPr/>
        </p:nvSpPr>
        <p:spPr>
          <a:xfrm>
            <a:off x="8321040" y="2011680"/>
            <a:ext cx="2971800" cy="1005840"/>
          </a:xfrm>
          <a:prstGeom prst="rect">
            <a:avLst/>
          </a:prstGeom>
          <a:noFill/>
          <a:ln/>
        </p:spPr>
        <p:txBody>
          <a:bodyPr wrap="square" lIns="0" tIns="0" rIns="0" bIns="0" rtlCol="0" anchor="ctr"/>
          <a:lstStyle/>
          <a:p>
            <a:pPr indent="0" marL="0">
              <a:buNone/>
            </a:pPr>
            <a:r>
              <a:rPr lang="en-US" sz="1800" dirty="0">
                <a:solidFill>
                  <a:srgbClr val="2C322C"/>
                </a:solidFill>
                <a:latin typeface="Georgia" pitchFamily="34" charset="0"/>
                <a:ea typeface="Georgia" pitchFamily="34" charset="-122"/>
                <a:cs typeface="Georgia" pitchFamily="34" charset="-120"/>
              </a:rPr>
              <a:t>Señales y Sistemas</a:t>
            </a:r>
            <a:endParaRPr lang="en-US" sz="1800" dirty="0"/>
          </a:p>
        </p:txBody>
      </p:sp>
      <p:sp>
        <p:nvSpPr>
          <p:cNvPr id="16" name="Text 14"/>
          <p:cNvSpPr/>
          <p:nvPr/>
        </p:nvSpPr>
        <p:spPr>
          <a:xfrm>
            <a:off x="8321040" y="3108960"/>
            <a:ext cx="2971800" cy="17373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La voz es una señal. Medir pronunciación es muestreo, espectro, MFCC, pitch y alineación temporal.</a:t>
            </a:r>
            <a:endParaRPr lang="en-US" sz="1500" dirty="0"/>
          </a:p>
        </p:txBody>
      </p:sp>
      <p:sp>
        <p:nvSpPr>
          <p:cNvPr id="17" name="Text 15"/>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ARQUITECTURA</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04 / 12</a:t>
            </a:r>
            <a:endParaRPr lang="en-US" sz="1100" dirty="0"/>
          </a:p>
        </p:txBody>
      </p:sp>
      <p:sp>
        <p:nvSpPr>
          <p:cNvPr id="4" name="Text 2"/>
          <p:cNvSpPr/>
          <p:nvPr/>
        </p:nvSpPr>
        <p:spPr>
          <a:xfrm>
            <a:off x="685800" y="640080"/>
            <a:ext cx="10972800" cy="502920"/>
          </a:xfrm>
          <a:prstGeom prst="rect">
            <a:avLst/>
          </a:prstGeom>
          <a:noFill/>
          <a:ln/>
        </p:spPr>
        <p:txBody>
          <a:bodyPr wrap="square" lIns="0" tIns="0" rIns="0" bIns="0" rtlCol="0" anchor="ctr"/>
          <a:lstStyle/>
          <a:p>
            <a:pPr indent="0" marL="0">
              <a:buNone/>
            </a:pPr>
            <a:r>
              <a:rPr lang="en-US" sz="2600" dirty="0">
                <a:solidFill>
                  <a:srgbClr val="2C322C"/>
                </a:solidFill>
                <a:latin typeface="Georgia" pitchFamily="34" charset="0"/>
                <a:ea typeface="Georgia" pitchFamily="34" charset="-122"/>
                <a:cs typeface="Georgia" pitchFamily="34" charset="-120"/>
              </a:rPr>
              <a:t>Cinco capas. La dependencia solo apunta hacia adentro.</a:t>
            </a:r>
            <a:endParaRPr lang="en-US" sz="2600" dirty="0"/>
          </a:p>
        </p:txBody>
      </p:sp>
      <p:sp>
        <p:nvSpPr>
          <p:cNvPr id="5" name="Shape 3"/>
          <p:cNvSpPr/>
          <p:nvPr/>
        </p:nvSpPr>
        <p:spPr>
          <a:xfrm>
            <a:off x="685800" y="132588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60120" y="1325880"/>
            <a:ext cx="1554480" cy="77724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ui/</a:t>
            </a:r>
            <a:endParaRPr lang="en-US" sz="1800" dirty="0"/>
          </a:p>
        </p:txBody>
      </p:sp>
      <p:sp>
        <p:nvSpPr>
          <p:cNvPr id="7" name="Text 5"/>
          <p:cNvSpPr/>
          <p:nvPr/>
        </p:nvSpPr>
        <p:spPr>
          <a:xfrm>
            <a:off x="2606040" y="1325880"/>
            <a:ext cx="2926080" cy="777240"/>
          </a:xfrm>
          <a:prstGeom prst="rect">
            <a:avLst/>
          </a:prstGeom>
          <a:noFill/>
          <a:ln/>
        </p:spPr>
        <p:txBody>
          <a:bodyPr wrap="square" lIns="0" tIns="0" rIns="0" bIns="0" rtlCol="0" anchor="ctr"/>
          <a:lstStyle/>
          <a:p>
            <a:pPr indent="0" marL="0">
              <a:buNone/>
            </a:pPr>
            <a:r>
              <a:rPr lang="en-US" sz="1600" dirty="0">
                <a:solidFill>
                  <a:srgbClr val="2C322C"/>
                </a:solidFill>
                <a:latin typeface="Georgia" pitchFamily="34" charset="0"/>
                <a:ea typeface="Georgia" pitchFamily="34" charset="-122"/>
                <a:cs typeface="Georgia" pitchFamily="34" charset="-120"/>
              </a:rPr>
              <a:t>React + TypeScript</a:t>
            </a:r>
            <a:endParaRPr lang="en-US" sz="1600" dirty="0"/>
          </a:p>
        </p:txBody>
      </p:sp>
      <p:sp>
        <p:nvSpPr>
          <p:cNvPr id="8" name="Text 6"/>
          <p:cNvSpPr/>
          <p:nvPr/>
        </p:nvSpPr>
        <p:spPr>
          <a:xfrm>
            <a:off x="5715000" y="1325880"/>
            <a:ext cx="6217920" cy="77724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Shell Teacher, chat, canvas, textos en español</a:t>
            </a:r>
            <a:endParaRPr lang="en-US" sz="1600" dirty="0"/>
          </a:p>
        </p:txBody>
      </p:sp>
      <p:sp>
        <p:nvSpPr>
          <p:cNvPr id="9" name="Shape 7"/>
          <p:cNvSpPr/>
          <p:nvPr/>
        </p:nvSpPr>
        <p:spPr>
          <a:xfrm>
            <a:off x="685800" y="219456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0" name="Text 8"/>
          <p:cNvSpPr/>
          <p:nvPr/>
        </p:nvSpPr>
        <p:spPr>
          <a:xfrm>
            <a:off x="960120" y="2194560"/>
            <a:ext cx="1554480" cy="77724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ia/</a:t>
            </a:r>
            <a:endParaRPr lang="en-US" sz="1800" dirty="0"/>
          </a:p>
        </p:txBody>
      </p:sp>
      <p:sp>
        <p:nvSpPr>
          <p:cNvPr id="11" name="Text 9"/>
          <p:cNvSpPr/>
          <p:nvPr/>
        </p:nvSpPr>
        <p:spPr>
          <a:xfrm>
            <a:off x="2606040" y="2194560"/>
            <a:ext cx="2926080" cy="777240"/>
          </a:xfrm>
          <a:prstGeom prst="rect">
            <a:avLst/>
          </a:prstGeom>
          <a:noFill/>
          <a:ln/>
        </p:spPr>
        <p:txBody>
          <a:bodyPr wrap="square" lIns="0" tIns="0" rIns="0" bIns="0" rtlCol="0" anchor="ctr"/>
          <a:lstStyle/>
          <a:p>
            <a:pPr indent="0" marL="0">
              <a:buNone/>
            </a:pPr>
            <a:r>
              <a:rPr lang="en-US" sz="1600" dirty="0">
                <a:solidFill>
                  <a:srgbClr val="2C322C"/>
                </a:solidFill>
                <a:latin typeface="Georgia" pitchFamily="34" charset="0"/>
                <a:ea typeface="Georgia" pitchFamily="34" charset="-122"/>
                <a:cs typeface="Georgia" pitchFamily="34" charset="-120"/>
              </a:rPr>
              <a:t>Web Worker</a:t>
            </a:r>
            <a:endParaRPr lang="en-US" sz="1600" dirty="0"/>
          </a:p>
        </p:txBody>
      </p:sp>
      <p:sp>
        <p:nvSpPr>
          <p:cNvPr id="12" name="Text 10"/>
          <p:cNvSpPr/>
          <p:nvPr/>
        </p:nvSpPr>
        <p:spPr>
          <a:xfrm>
            <a:off x="5715000" y="2194560"/>
            <a:ext cx="6217920" cy="77724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Whisper, T5, SpeechT5, SmolLM2</a:t>
            </a:r>
            <a:endParaRPr lang="en-US" sz="1600" dirty="0"/>
          </a:p>
        </p:txBody>
      </p:sp>
      <p:sp>
        <p:nvSpPr>
          <p:cNvPr id="13" name="Shape 11"/>
          <p:cNvSpPr/>
          <p:nvPr/>
        </p:nvSpPr>
        <p:spPr>
          <a:xfrm>
            <a:off x="685800" y="306324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4" name="Text 12"/>
          <p:cNvSpPr/>
          <p:nvPr/>
        </p:nvSpPr>
        <p:spPr>
          <a:xfrm>
            <a:off x="960120" y="3063240"/>
            <a:ext cx="1554480" cy="77724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dsp/</a:t>
            </a:r>
            <a:endParaRPr lang="en-US" sz="1800" dirty="0"/>
          </a:p>
        </p:txBody>
      </p:sp>
      <p:sp>
        <p:nvSpPr>
          <p:cNvPr id="15" name="Text 13"/>
          <p:cNvSpPr/>
          <p:nvPr/>
        </p:nvSpPr>
        <p:spPr>
          <a:xfrm>
            <a:off x="2606040" y="3063240"/>
            <a:ext cx="2926080" cy="777240"/>
          </a:xfrm>
          <a:prstGeom prst="rect">
            <a:avLst/>
          </a:prstGeom>
          <a:noFill/>
          <a:ln/>
        </p:spPr>
        <p:txBody>
          <a:bodyPr wrap="square" lIns="0" tIns="0" rIns="0" bIns="0" rtlCol="0" anchor="ctr"/>
          <a:lstStyle/>
          <a:p>
            <a:pPr indent="0" marL="0">
              <a:buNone/>
            </a:pPr>
            <a:r>
              <a:rPr lang="en-US" sz="1600" dirty="0">
                <a:solidFill>
                  <a:srgbClr val="2C322C"/>
                </a:solidFill>
                <a:latin typeface="Georgia" pitchFamily="34" charset="0"/>
                <a:ea typeface="Georgia" pitchFamily="34" charset="-122"/>
                <a:cs typeface="Georgia" pitchFamily="34" charset="-120"/>
              </a:rPr>
              <a:t>Dominio puro</a:t>
            </a:r>
            <a:endParaRPr lang="en-US" sz="1600" dirty="0"/>
          </a:p>
        </p:txBody>
      </p:sp>
      <p:sp>
        <p:nvSpPr>
          <p:cNvPr id="16" name="Text 14"/>
          <p:cNvSpPr/>
          <p:nvPr/>
        </p:nvSpPr>
        <p:spPr>
          <a:xfrm>
            <a:off x="5715000" y="3063240"/>
            <a:ext cx="6217920" cy="77724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YIN, STFT, MFCC, formantes, DTW, VAD</a:t>
            </a:r>
            <a:endParaRPr lang="en-US" sz="1600" dirty="0"/>
          </a:p>
        </p:txBody>
      </p:sp>
      <p:sp>
        <p:nvSpPr>
          <p:cNvPr id="17" name="Shape 15"/>
          <p:cNvSpPr/>
          <p:nvPr/>
        </p:nvSpPr>
        <p:spPr>
          <a:xfrm>
            <a:off x="685800" y="393192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8" name="Text 16"/>
          <p:cNvSpPr/>
          <p:nvPr/>
        </p:nvSpPr>
        <p:spPr>
          <a:xfrm>
            <a:off x="960120" y="3931920"/>
            <a:ext cx="1554480" cy="77724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audio/</a:t>
            </a:r>
            <a:endParaRPr lang="en-US" sz="1800" dirty="0"/>
          </a:p>
        </p:txBody>
      </p:sp>
      <p:sp>
        <p:nvSpPr>
          <p:cNvPr id="19" name="Text 17"/>
          <p:cNvSpPr/>
          <p:nvPr/>
        </p:nvSpPr>
        <p:spPr>
          <a:xfrm>
            <a:off x="2606040" y="3931920"/>
            <a:ext cx="2926080" cy="777240"/>
          </a:xfrm>
          <a:prstGeom prst="rect">
            <a:avLst/>
          </a:prstGeom>
          <a:noFill/>
          <a:ln/>
        </p:spPr>
        <p:txBody>
          <a:bodyPr wrap="square" lIns="0" tIns="0" rIns="0" bIns="0" rtlCol="0" anchor="ctr"/>
          <a:lstStyle/>
          <a:p>
            <a:pPr indent="0" marL="0">
              <a:buNone/>
            </a:pPr>
            <a:r>
              <a:rPr lang="en-US" sz="1600" dirty="0">
                <a:solidFill>
                  <a:srgbClr val="2C322C"/>
                </a:solidFill>
                <a:latin typeface="Georgia" pitchFamily="34" charset="0"/>
                <a:ea typeface="Georgia" pitchFamily="34" charset="-122"/>
                <a:cs typeface="Georgia" pitchFamily="34" charset="-120"/>
              </a:rPr>
              <a:t>Web Audio</a:t>
            </a:r>
            <a:endParaRPr lang="en-US" sz="1600" dirty="0"/>
          </a:p>
        </p:txBody>
      </p:sp>
      <p:sp>
        <p:nvSpPr>
          <p:cNvPr id="20" name="Text 18"/>
          <p:cNvSpPr/>
          <p:nvPr/>
        </p:nvSpPr>
        <p:spPr>
          <a:xfrm>
            <a:off x="5715000" y="3931920"/>
            <a:ext cx="6217920" cy="77724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Mic real, MediaRecorder, FIR a 16 kHz</a:t>
            </a:r>
            <a:endParaRPr lang="en-US" sz="1600" dirty="0"/>
          </a:p>
        </p:txBody>
      </p:sp>
      <p:sp>
        <p:nvSpPr>
          <p:cNvPr id="21" name="Shape 19"/>
          <p:cNvSpPr/>
          <p:nvPr/>
        </p:nvSpPr>
        <p:spPr>
          <a:xfrm>
            <a:off x="685800" y="4800600"/>
            <a:ext cx="10789920" cy="7772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2" name="Text 20"/>
          <p:cNvSpPr/>
          <p:nvPr/>
        </p:nvSpPr>
        <p:spPr>
          <a:xfrm>
            <a:off x="960120" y="4800600"/>
            <a:ext cx="1554480" cy="77724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storage/</a:t>
            </a:r>
            <a:endParaRPr lang="en-US" sz="1800" dirty="0"/>
          </a:p>
        </p:txBody>
      </p:sp>
      <p:sp>
        <p:nvSpPr>
          <p:cNvPr id="23" name="Text 21"/>
          <p:cNvSpPr/>
          <p:nvPr/>
        </p:nvSpPr>
        <p:spPr>
          <a:xfrm>
            <a:off x="2606040" y="4800600"/>
            <a:ext cx="2926080" cy="777240"/>
          </a:xfrm>
          <a:prstGeom prst="rect">
            <a:avLst/>
          </a:prstGeom>
          <a:noFill/>
          <a:ln/>
        </p:spPr>
        <p:txBody>
          <a:bodyPr wrap="square" lIns="0" tIns="0" rIns="0" bIns="0" rtlCol="0" anchor="ctr"/>
          <a:lstStyle/>
          <a:p>
            <a:pPr indent="0" marL="0">
              <a:buNone/>
            </a:pPr>
            <a:r>
              <a:rPr lang="en-US" sz="1600" dirty="0">
                <a:solidFill>
                  <a:srgbClr val="2C322C"/>
                </a:solidFill>
                <a:latin typeface="Georgia" pitchFamily="34" charset="0"/>
                <a:ea typeface="Georgia" pitchFamily="34" charset="-122"/>
                <a:cs typeface="Georgia" pitchFamily="34" charset="-120"/>
              </a:rPr>
              <a:t>IndexedDB</a:t>
            </a:r>
            <a:endParaRPr lang="en-US" sz="1600" dirty="0"/>
          </a:p>
        </p:txBody>
      </p:sp>
      <p:sp>
        <p:nvSpPr>
          <p:cNvPr id="24" name="Text 22"/>
          <p:cNvSpPr/>
          <p:nvPr/>
        </p:nvSpPr>
        <p:spPr>
          <a:xfrm>
            <a:off x="5715000" y="4800600"/>
            <a:ext cx="6217920" cy="77724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Turnos y scores. Nunca audio crudo</a:t>
            </a:r>
            <a:endParaRPr lang="en-US" sz="1600" dirty="0"/>
          </a:p>
        </p:txBody>
      </p:sp>
      <p:sp>
        <p:nvSpPr>
          <p:cNvPr id="25" name="Text 23"/>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UN TURNO</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05 / 12</a:t>
            </a:r>
            <a:endParaRPr lang="en-US" sz="1100" dirty="0"/>
          </a:p>
        </p:txBody>
      </p:sp>
      <p:sp>
        <p:nvSpPr>
          <p:cNvPr id="4" name="Text 2"/>
          <p:cNvSpPr/>
          <p:nvPr/>
        </p:nvSpPr>
        <p:spPr>
          <a:xfrm>
            <a:off x="685800" y="640080"/>
            <a:ext cx="10972800" cy="457200"/>
          </a:xfrm>
          <a:prstGeom prst="rect">
            <a:avLst/>
          </a:prstGeom>
          <a:noFill/>
          <a:ln/>
        </p:spPr>
        <p:txBody>
          <a:bodyPr wrap="square" lIns="0" tIns="0" rIns="0" bIns="0" rtlCol="0" anchor="ctr"/>
          <a:lstStyle/>
          <a:p>
            <a:pPr indent="0" marL="0">
              <a:buNone/>
            </a:pPr>
            <a:r>
              <a:rPr lang="en-US" sz="2800" dirty="0">
                <a:solidFill>
                  <a:srgbClr val="2C322C"/>
                </a:solidFill>
                <a:latin typeface="Georgia" pitchFamily="34" charset="0"/>
                <a:ea typeface="Georgia" pitchFamily="34" charset="-122"/>
                <a:cs typeface="Georgia" pitchFamily="34" charset="-120"/>
              </a:rPr>
              <a:t>Del clic a la respuesta, sin servidor.</a:t>
            </a:r>
            <a:endParaRPr lang="en-US" sz="2800" dirty="0"/>
          </a:p>
        </p:txBody>
      </p:sp>
      <p:sp>
        <p:nvSpPr>
          <p:cNvPr id="5" name="Shape 3"/>
          <p:cNvSpPr/>
          <p:nvPr/>
        </p:nvSpPr>
        <p:spPr>
          <a:xfrm>
            <a:off x="685800" y="132588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14400" y="150876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463040" y="152704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Hablar</a:t>
            </a:r>
            <a:endParaRPr lang="en-US" sz="2000" dirty="0"/>
          </a:p>
        </p:txBody>
      </p:sp>
      <p:sp>
        <p:nvSpPr>
          <p:cNvPr id="8" name="Text 6"/>
          <p:cNvSpPr/>
          <p:nvPr/>
        </p:nvSpPr>
        <p:spPr>
          <a:xfrm>
            <a:off x="914400" y="210312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getUserMedia. Onda, espectro y pitch en vivo.</a:t>
            </a:r>
            <a:endParaRPr lang="en-US" sz="1500" dirty="0"/>
          </a:p>
        </p:txBody>
      </p:sp>
      <p:sp>
        <p:nvSpPr>
          <p:cNvPr id="9" name="Shape 7"/>
          <p:cNvSpPr/>
          <p:nvPr/>
        </p:nvSpPr>
        <p:spPr>
          <a:xfrm>
            <a:off x="4343400" y="132588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0" name="Text 8"/>
          <p:cNvSpPr/>
          <p:nvPr/>
        </p:nvSpPr>
        <p:spPr>
          <a:xfrm>
            <a:off x="4572000" y="150876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5120640" y="152704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VAD</a:t>
            </a:r>
            <a:endParaRPr lang="en-US" sz="2000" dirty="0"/>
          </a:p>
        </p:txBody>
      </p:sp>
      <p:sp>
        <p:nvSpPr>
          <p:cNvPr id="12" name="Text 10"/>
          <p:cNvSpPr/>
          <p:nvPr/>
        </p:nvSpPr>
        <p:spPr>
          <a:xfrm>
            <a:off x="4572000" y="210312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Auto-stop ~0.9 s de silencio, o Detener.</a:t>
            </a:r>
            <a:endParaRPr lang="en-US" sz="1500" dirty="0"/>
          </a:p>
        </p:txBody>
      </p:sp>
      <p:sp>
        <p:nvSpPr>
          <p:cNvPr id="13" name="Shape 11"/>
          <p:cNvSpPr/>
          <p:nvPr/>
        </p:nvSpPr>
        <p:spPr>
          <a:xfrm>
            <a:off x="8001000" y="132588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4" name="Text 12"/>
          <p:cNvSpPr/>
          <p:nvPr/>
        </p:nvSpPr>
        <p:spPr>
          <a:xfrm>
            <a:off x="8229600" y="150876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8778240" y="152704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ASR</a:t>
            </a:r>
            <a:endParaRPr lang="en-US" sz="2000" dirty="0"/>
          </a:p>
        </p:txBody>
      </p:sp>
      <p:sp>
        <p:nvSpPr>
          <p:cNvPr id="16" name="Text 14"/>
          <p:cNvSpPr/>
          <p:nvPr/>
        </p:nvSpPr>
        <p:spPr>
          <a:xfrm>
            <a:off x="8229600" y="210312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MediaRecorder → FIR 16 kHz → Whisper.</a:t>
            </a:r>
            <a:endParaRPr lang="en-US" sz="1500" dirty="0"/>
          </a:p>
        </p:txBody>
      </p:sp>
      <p:sp>
        <p:nvSpPr>
          <p:cNvPr id="17" name="Shape 15"/>
          <p:cNvSpPr/>
          <p:nvPr/>
        </p:nvSpPr>
        <p:spPr>
          <a:xfrm>
            <a:off x="685800" y="356616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8" name="Text 16"/>
          <p:cNvSpPr/>
          <p:nvPr/>
        </p:nvSpPr>
        <p:spPr>
          <a:xfrm>
            <a:off x="914400" y="374904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4</a:t>
            </a:r>
            <a:endParaRPr lang="en-US" sz="2200" dirty="0"/>
          </a:p>
        </p:txBody>
      </p:sp>
      <p:sp>
        <p:nvSpPr>
          <p:cNvPr id="19" name="Text 17"/>
          <p:cNvSpPr/>
          <p:nvPr/>
        </p:nvSpPr>
        <p:spPr>
          <a:xfrm>
            <a:off x="1463040" y="376732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Chat</a:t>
            </a:r>
            <a:endParaRPr lang="en-US" sz="2000" dirty="0"/>
          </a:p>
        </p:txBody>
      </p:sp>
      <p:sp>
        <p:nvSpPr>
          <p:cNvPr id="20" name="Text 18"/>
          <p:cNvSpPr/>
          <p:nvPr/>
        </p:nvSpPr>
        <p:spPr>
          <a:xfrm>
            <a:off x="914400" y="434340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Burbuja del estudiante antes del tutor.</a:t>
            </a:r>
            <a:endParaRPr lang="en-US" sz="1500" dirty="0"/>
          </a:p>
        </p:txBody>
      </p:sp>
      <p:sp>
        <p:nvSpPr>
          <p:cNvPr id="21" name="Shape 19"/>
          <p:cNvSpPr/>
          <p:nvPr/>
        </p:nvSpPr>
        <p:spPr>
          <a:xfrm>
            <a:off x="4343400" y="356616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2" name="Text 20"/>
          <p:cNvSpPr/>
          <p:nvPr/>
        </p:nvSpPr>
        <p:spPr>
          <a:xfrm>
            <a:off x="4572000" y="374904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5</a:t>
            </a:r>
            <a:endParaRPr lang="en-US" sz="2200" dirty="0"/>
          </a:p>
        </p:txBody>
      </p:sp>
      <p:sp>
        <p:nvSpPr>
          <p:cNvPr id="23" name="Text 21"/>
          <p:cNvSpPr/>
          <p:nvPr/>
        </p:nvSpPr>
        <p:spPr>
          <a:xfrm>
            <a:off x="5120640" y="376732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Tutor</a:t>
            </a:r>
            <a:endParaRPr lang="en-US" sz="2000" dirty="0"/>
          </a:p>
        </p:txBody>
      </p:sp>
      <p:sp>
        <p:nvSpPr>
          <p:cNvPr id="24" name="Text 22"/>
          <p:cNvSpPr/>
          <p:nvPr/>
        </p:nvSpPr>
        <p:spPr>
          <a:xfrm>
            <a:off x="4572000" y="434340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Reglas al instante. SmolLM2 en paralelo.</a:t>
            </a:r>
            <a:endParaRPr lang="en-US" sz="1500" dirty="0"/>
          </a:p>
        </p:txBody>
      </p:sp>
      <p:sp>
        <p:nvSpPr>
          <p:cNvPr id="25" name="Shape 23"/>
          <p:cNvSpPr/>
          <p:nvPr/>
        </p:nvSpPr>
        <p:spPr>
          <a:xfrm>
            <a:off x="8001000" y="3566160"/>
            <a:ext cx="3474720" cy="205740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6" name="Text 24"/>
          <p:cNvSpPr/>
          <p:nvPr/>
        </p:nvSpPr>
        <p:spPr>
          <a:xfrm>
            <a:off x="8229600" y="3749040"/>
            <a:ext cx="502920" cy="41148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6</a:t>
            </a:r>
            <a:endParaRPr lang="en-US" sz="2200" dirty="0"/>
          </a:p>
        </p:txBody>
      </p:sp>
      <p:sp>
        <p:nvSpPr>
          <p:cNvPr id="27" name="Text 25"/>
          <p:cNvSpPr/>
          <p:nvPr/>
        </p:nvSpPr>
        <p:spPr>
          <a:xfrm>
            <a:off x="8778240" y="3767328"/>
            <a:ext cx="2468880" cy="411480"/>
          </a:xfrm>
          <a:prstGeom prst="rect">
            <a:avLst/>
          </a:prstGeom>
          <a:noFill/>
          <a:ln/>
        </p:spPr>
        <p:txBody>
          <a:bodyPr wrap="square" lIns="0" tIns="0" rIns="0" bIns="0" rtlCol="0" anchor="ctr"/>
          <a:lstStyle/>
          <a:p>
            <a:pPr indent="0" marL="0">
              <a:buNone/>
            </a:pPr>
            <a:r>
              <a:rPr lang="en-US" sz="2000" dirty="0">
                <a:solidFill>
                  <a:srgbClr val="2C322C"/>
                </a:solidFill>
                <a:latin typeface="Georgia" pitchFamily="34" charset="0"/>
                <a:ea typeface="Georgia" pitchFamily="34" charset="-122"/>
                <a:cs typeface="Georgia" pitchFamily="34" charset="-120"/>
              </a:rPr>
              <a:t>Voz</a:t>
            </a:r>
            <a:endParaRPr lang="en-US" sz="2000" dirty="0"/>
          </a:p>
        </p:txBody>
      </p:sp>
      <p:sp>
        <p:nvSpPr>
          <p:cNvPr id="28" name="Text 26"/>
          <p:cNvSpPr/>
          <p:nvPr/>
        </p:nvSpPr>
        <p:spPr>
          <a:xfrm>
            <a:off x="8229600" y="4343400"/>
            <a:ext cx="3017520" cy="1051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SpeechT5 o voz local. Score solo en Repetir.</a:t>
            </a:r>
            <a:endParaRPr lang="en-US" sz="1500" dirty="0"/>
          </a:p>
        </p:txBody>
      </p:sp>
      <p:sp>
        <p:nvSpPr>
          <p:cNvPr id="29" name="Text 27"/>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INTERFAZ</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06 / 12</a:t>
            </a:r>
            <a:endParaRPr lang="en-US" sz="1100" dirty="0"/>
          </a:p>
        </p:txBody>
      </p:sp>
      <p:sp>
        <p:nvSpPr>
          <p:cNvPr id="4" name="Text 2"/>
          <p:cNvSpPr/>
          <p:nvPr/>
        </p:nvSpPr>
        <p:spPr>
          <a:xfrm>
            <a:off x="685800" y="594360"/>
            <a:ext cx="4937760" cy="640080"/>
          </a:xfrm>
          <a:prstGeom prst="rect">
            <a:avLst/>
          </a:prstGeom>
          <a:noFill/>
          <a:ln/>
        </p:spPr>
        <p:txBody>
          <a:bodyPr wrap="square" lIns="0" tIns="0" rIns="0" bIns="0" rtlCol="0" anchor="ctr"/>
          <a:lstStyle/>
          <a:p>
            <a:pPr indent="0" marL="0">
              <a:buNone/>
            </a:pPr>
            <a:r>
              <a:rPr lang="en-US" sz="2400" dirty="0">
                <a:solidFill>
                  <a:srgbClr val="2C322C"/>
                </a:solidFill>
                <a:latin typeface="Georgia" pitchFamily="34" charset="0"/>
                <a:ea typeface="Georgia" pitchFamily="34" charset="-122"/>
                <a:cs typeface="Georgia" pitchFamily="34" charset="-120"/>
              </a:rPr>
              <a:t>Rail, chat y panel. Textos en español.</a:t>
            </a:r>
            <a:endParaRPr lang="en-US" sz="2400" dirty="0"/>
          </a:p>
        </p:txBody>
      </p:sp>
      <p:sp>
        <p:nvSpPr>
          <p:cNvPr id="5" name="Text 3"/>
          <p:cNvSpPr/>
          <p:nvPr/>
        </p:nvSpPr>
        <p:spPr>
          <a:xfrm>
            <a:off x="685800" y="1325880"/>
            <a:ext cx="4937760" cy="155448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Tres escenarios: restaurante, aeropuerto, entrevista. Hablar abre Señales. El tutor de apertura es un guion curado; cada turno del estudiante recibe corrección y respuesta.</a:t>
            </a:r>
            <a:endParaRPr lang="en-US" sz="1500" dirty="0"/>
          </a:p>
        </p:txBody>
      </p:sp>
      <p:sp>
        <p:nvSpPr>
          <p:cNvPr id="6" name="Text 4"/>
          <p:cNvSpPr/>
          <p:nvPr/>
        </p:nvSpPr>
        <p:spPr>
          <a:xfrm>
            <a:off x="685800" y="3017520"/>
            <a:ext cx="4937760" cy="320040"/>
          </a:xfrm>
          <a:prstGeom prst="rect">
            <a:avLst/>
          </a:prstGeom>
          <a:noFill/>
          <a:ln/>
        </p:spPr>
        <p:txBody>
          <a:bodyPr wrap="square" lIns="0" tIns="0" rIns="0" bIns="0" rtlCol="0" anchor="ctr"/>
          <a:lstStyle/>
          <a:p>
            <a:pPr indent="0" marL="0">
              <a:buNone/>
            </a:pPr>
            <a:r>
              <a:rPr lang="en-US" sz="1200" dirty="0">
                <a:solidFill>
                  <a:srgbClr val="6A7068"/>
                </a:solidFill>
                <a:latin typeface="Consolas" pitchFamily="34" charset="0"/>
                <a:ea typeface="Consolas" pitchFamily="34" charset="-122"/>
                <a:cs typeface="Consolas" pitchFamily="34" charset="-120"/>
              </a:rPr>
              <a:t>Captura: shell en reposo, 1280×800.</a:t>
            </a:r>
            <a:endParaRPr lang="en-US" sz="1200" dirty="0"/>
          </a:p>
        </p:txBody>
      </p:sp>
      <p:pic>
        <p:nvPicPr>
          <p:cNvPr id="7" name="Image 0" descr="Shell Teacher en reposo">    </p:cNvPr>
          <p:cNvPicPr>
            <a:picLocks noChangeAspect="1"/>
          </p:cNvPicPr>
          <p:nvPr/>
        </p:nvPicPr>
        <p:blipFill>
          <a:blip r:embed="rId1"/>
          <a:stretch>
            <a:fillRect/>
          </a:stretch>
        </p:blipFill>
        <p:spPr>
          <a:xfrm>
            <a:off x="5897880" y="777240"/>
            <a:ext cx="5989320" cy="3743325"/>
          </a:xfrm>
          <a:prstGeom prst="rect">
            <a:avLst/>
          </a:prstGeom>
          <a:effectLst>
            <a:outerShdw sx="100000" sy="100000" kx="0" ky="0" algn="bl" rotWithShape="0" blurRad="101600" dist="38100" dir="8100000">
              <a:srgbClr val="000000">
                <a:alpha val="8000"/>
              </a:srgbClr>
            </a:outerShdw>
          </a:effectLst>
        </p:spPr>
      </p:pic>
      <p:sp>
        <p:nvSpPr>
          <p:cNvPr id="8" name="Text 5"/>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SEÑALES EN VIVO</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07 / 12</a:t>
            </a:r>
            <a:endParaRPr lang="en-US" sz="1100" dirty="0"/>
          </a:p>
        </p:txBody>
      </p:sp>
      <p:sp>
        <p:nvSpPr>
          <p:cNvPr id="4" name="Text 2"/>
          <p:cNvSpPr/>
          <p:nvPr/>
        </p:nvSpPr>
        <p:spPr>
          <a:xfrm>
            <a:off x="685800" y="594360"/>
            <a:ext cx="5669280" cy="502920"/>
          </a:xfrm>
          <a:prstGeom prst="rect">
            <a:avLst/>
          </a:prstGeom>
          <a:noFill/>
          <a:ln/>
        </p:spPr>
        <p:txBody>
          <a:bodyPr wrap="square" lIns="0" tIns="0" rIns="0" bIns="0" rtlCol="0" anchor="ctr"/>
          <a:lstStyle/>
          <a:p>
            <a:pPr indent="0" marL="0">
              <a:buNone/>
            </a:pPr>
            <a:r>
              <a:rPr lang="en-US" sz="2400" dirty="0">
                <a:solidFill>
                  <a:srgbClr val="2C322C"/>
                </a:solidFill>
                <a:latin typeface="Georgia" pitchFamily="34" charset="0"/>
                <a:ea typeface="Georgia" pitchFamily="34" charset="-122"/>
                <a:cs typeface="Georgia" pitchFamily="34" charset="-120"/>
              </a:rPr>
              <a:t>Tres visualizaciones mientras habla.</a:t>
            </a:r>
            <a:endParaRPr lang="en-US" sz="2400" dirty="0"/>
          </a:p>
        </p:txBody>
      </p:sp>
      <p:sp>
        <p:nvSpPr>
          <p:cNvPr id="5" name="Text 3"/>
          <p:cNvSpPr/>
          <p:nvPr/>
        </p:nvSpPr>
        <p:spPr>
          <a:xfrm>
            <a:off x="685800" y="1234440"/>
            <a:ext cx="5029200" cy="3474720"/>
          </a:xfrm>
          <a:prstGeom prst="rect">
            <a:avLst/>
          </a:prstGeom>
          <a:noFill/>
          <a:ln/>
        </p:spPr>
        <p:txBody>
          <a:bodyPr wrap="square" lIns="0" tIns="0" rIns="0" bIns="0" rtlCol="0" anchor="ctr"/>
          <a:lstStyle/>
          <a:p>
            <a:pPr indent="0" marL="0">
              <a:buNone/>
            </a:pPr>
            <a:r>
              <a:rPr lang="en-US" sz="1500" b="1" dirty="0">
                <a:solidFill>
                  <a:srgbClr val="6A7068"/>
                </a:solidFill>
                <a:latin typeface="Calibri" pitchFamily="34" charset="0"/>
                <a:ea typeface="Calibri" pitchFamily="34" charset="-122"/>
                <a:cs typeface="Calibri" pitchFamily="34" charset="-120"/>
              </a:rPr>
              <a:t>Onda y nivel</a:t>
            </a:r>
            <a:endParaRPr lang="en-US" sz="1500" dirty="0"/>
          </a:p>
          <a:p>
            <a:pPr indent="0" marL="0">
              <a:buNone/>
            </a:pPr>
            <a:r>
              <a:rPr lang="en-US" sz="1500" dirty="0">
                <a:solidFill>
                  <a:srgbClr val="6A7068"/>
                </a:solidFill>
                <a:latin typeface="Calibri" pitchFamily="34" charset="0"/>
                <a:ea typeface="Calibri" pitchFamily="34" charset="-122"/>
                <a:cs typeface="Calibri" pitchFamily="34" charset="-120"/>
              </a:rPr>
              <a:t>AnalyserNode, tiempo real.</a:t>
            </a:r>
            <a:endParaRPr lang="en-US" sz="1500" dirty="0"/>
          </a:p>
          <a:p>
            <a:pPr indent="0" marL="0">
              <a:buNone/>
            </a:pPr>
            <a:endParaRPr lang="en-US" sz="1500" dirty="0"/>
          </a:p>
          <a:p>
            <a:pPr indent="0" marL="0">
              <a:buNone/>
            </a:pPr>
            <a:r>
              <a:rPr lang="en-US" sz="1500" b="1" dirty="0">
                <a:solidFill>
                  <a:srgbClr val="6A7068"/>
                </a:solidFill>
                <a:latin typeface="Calibri" pitchFamily="34" charset="0"/>
                <a:ea typeface="Calibri" pitchFamily="34" charset="-122"/>
                <a:cs typeface="Calibri" pitchFamily="34" charset="-120"/>
              </a:rPr>
              <a:t>Espectrograma STFT</a:t>
            </a:r>
            <a:endParaRPr lang="en-US" sz="1500" dirty="0"/>
          </a:p>
          <a:p>
            <a:pPr indent="0" marL="0">
              <a:buNone/>
            </a:pPr>
            <a:r>
              <a:rPr lang="en-US" sz="1500" dirty="0">
                <a:solidFill>
                  <a:srgbClr val="6A7068"/>
                </a:solidFill>
                <a:latin typeface="Calibri" pitchFamily="34" charset="0"/>
                <a:ea typeface="Calibri" pitchFamily="34" charset="-122"/>
                <a:cs typeface="Calibri" pitchFamily="34" charset="-120"/>
              </a:rPr>
              <a:t>FFT radix-2 propia, 25/10 ms. No es el FFT del Analyser.</a:t>
            </a:r>
            <a:endParaRPr lang="en-US" sz="1500" dirty="0"/>
          </a:p>
          <a:p>
            <a:pPr indent="0" marL="0">
              <a:buNone/>
            </a:pPr>
            <a:endParaRPr lang="en-US" sz="1500" dirty="0"/>
          </a:p>
          <a:p>
            <a:pPr indent="0" marL="0">
              <a:buNone/>
            </a:pPr>
            <a:r>
              <a:rPr lang="en-US" sz="1500" b="1" dirty="0">
                <a:solidFill>
                  <a:srgbClr val="6A7068"/>
                </a:solidFill>
                <a:latin typeface="Calibri" pitchFamily="34" charset="0"/>
                <a:ea typeface="Calibri" pitchFamily="34" charset="-122"/>
                <a:cs typeface="Calibri" pitchFamily="34" charset="-120"/>
              </a:rPr>
              <a:t>Pitch YIN</a:t>
            </a:r>
            <a:endParaRPr lang="en-US" sz="1500" dirty="0"/>
          </a:p>
          <a:p>
            <a:pPr indent="0" marL="0">
              <a:buNone/>
            </a:pPr>
            <a:r>
              <a:rPr lang="en-US" sz="1500" dirty="0">
                <a:solidFill>
                  <a:srgbClr val="6A7068"/>
                </a:solidFill>
                <a:latin typeface="Calibri" pitchFamily="34" charset="0"/>
                <a:ea typeface="Calibri" pitchFamily="34" charset="-122"/>
                <a:cs typeface="Calibri" pitchFamily="34" charset="-120"/>
              </a:rPr>
              <a:t>70–400 Hz sobre PCM de una pista clonada.</a:t>
            </a:r>
            <a:endParaRPr lang="en-US" sz="1500" dirty="0"/>
          </a:p>
        </p:txBody>
      </p:sp>
      <p:pic>
        <p:nvPicPr>
          <p:cNvPr id="6" name="Image 0" descr="Espectrograma y formantes tras una captura real">    </p:cNvPr>
          <p:cNvPicPr>
            <a:picLocks noChangeAspect="1"/>
          </p:cNvPicPr>
          <p:nvPr/>
        </p:nvPicPr>
        <p:blipFill>
          <a:blip r:embed="rId1"/>
          <a:stretch>
            <a:fillRect/>
          </a:stretch>
        </p:blipFill>
        <p:spPr>
          <a:xfrm>
            <a:off x="6030925" y="777240"/>
            <a:ext cx="5474970" cy="5074920"/>
          </a:xfrm>
          <a:prstGeom prst="rect">
            <a:avLst/>
          </a:prstGeom>
          <a:effectLst>
            <a:outerShdw sx="100000" sy="100000" kx="0" ky="0" algn="bl" rotWithShape="0" blurRad="101600" dist="38100" dir="8100000">
              <a:srgbClr val="000000">
                <a:alpha val="8000"/>
              </a:srgbClr>
            </a:outerShdw>
          </a:effectLst>
        </p:spPr>
      </p:pic>
      <p:sp>
        <p:nvSpPr>
          <p:cNvPr id="7" name="Text 4"/>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GUION DE DEMO</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08 / 12</a:t>
            </a:r>
            <a:endParaRPr lang="en-US" sz="1100" dirty="0"/>
          </a:p>
        </p:txBody>
      </p:sp>
      <p:sp>
        <p:nvSpPr>
          <p:cNvPr id="4" name="Text 2"/>
          <p:cNvSpPr/>
          <p:nvPr/>
        </p:nvSpPr>
        <p:spPr>
          <a:xfrm>
            <a:off x="685800" y="640080"/>
            <a:ext cx="10972800" cy="457200"/>
          </a:xfrm>
          <a:prstGeom prst="rect">
            <a:avLst/>
          </a:prstGeom>
          <a:noFill/>
          <a:ln/>
        </p:spPr>
        <p:txBody>
          <a:bodyPr wrap="square" lIns="0" tIns="0" rIns="0" bIns="0" rtlCol="0" anchor="ctr"/>
          <a:lstStyle/>
          <a:p>
            <a:pPr indent="0" marL="0">
              <a:buNone/>
            </a:pPr>
            <a:r>
              <a:rPr lang="en-US" sz="2800" dirty="0">
                <a:solidFill>
                  <a:srgbClr val="2C322C"/>
                </a:solidFill>
                <a:latin typeface="Georgia" pitchFamily="34" charset="0"/>
                <a:ea typeface="Georgia" pitchFamily="34" charset="-122"/>
                <a:cs typeface="Georgia" pitchFamily="34" charset="-120"/>
              </a:rPr>
              <a:t>Checklist de aula. Solo localhost.</a:t>
            </a:r>
            <a:endParaRPr lang="en-US" sz="2800" dirty="0"/>
          </a:p>
        </p:txBody>
      </p:sp>
      <p:sp>
        <p:nvSpPr>
          <p:cNvPr id="5" name="Shape 3"/>
          <p:cNvSpPr/>
          <p:nvPr/>
        </p:nvSpPr>
        <p:spPr>
          <a:xfrm>
            <a:off x="685800" y="128016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14400" y="1417320"/>
            <a:ext cx="4800600" cy="320040"/>
          </a:xfrm>
          <a:prstGeom prst="rect">
            <a:avLst/>
          </a:prstGeom>
          <a:noFill/>
          <a:ln/>
        </p:spPr>
        <p:txBody>
          <a:bodyPr wrap="square" lIns="0" tIns="0" rIns="0" bIns="0" rtlCol="0" anchor="ctr"/>
          <a:lstStyle/>
          <a:p>
            <a:pPr indent="0" marL="0">
              <a:buNone/>
            </a:pPr>
            <a:r>
              <a:rPr lang="en-US" sz="1600" dirty="0">
                <a:solidFill>
                  <a:srgbClr val="4A6B50"/>
                </a:solidFill>
                <a:latin typeface="Georgia" pitchFamily="34" charset="0"/>
                <a:ea typeface="Georgia" pitchFamily="34" charset="-122"/>
                <a:cs typeface="Georgia" pitchFamily="34" charset="-120"/>
              </a:rPr>
              <a:t>Antes</a:t>
            </a:r>
            <a:endParaRPr lang="en-US" sz="1600" dirty="0"/>
          </a:p>
        </p:txBody>
      </p:sp>
      <p:sp>
        <p:nvSpPr>
          <p:cNvPr id="7" name="Text 5"/>
          <p:cNvSpPr/>
          <p:nvPr/>
        </p:nvSpPr>
        <p:spPr>
          <a:xfrm>
            <a:off x="914400" y="178308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Chromium. pnpm build &amp;&amp; pnpm preview. Precargar modelos. No Ctrl+Shift+R.</a:t>
            </a:r>
            <a:endParaRPr lang="en-US" sz="1400" dirty="0"/>
          </a:p>
        </p:txBody>
      </p:sp>
      <p:sp>
        <p:nvSpPr>
          <p:cNvPr id="8" name="Shape 6"/>
          <p:cNvSpPr/>
          <p:nvPr/>
        </p:nvSpPr>
        <p:spPr>
          <a:xfrm>
            <a:off x="685800" y="283464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9" name="Text 7"/>
          <p:cNvSpPr/>
          <p:nvPr/>
        </p:nvSpPr>
        <p:spPr>
          <a:xfrm>
            <a:off x="914400" y="2971800"/>
            <a:ext cx="4800600" cy="320040"/>
          </a:xfrm>
          <a:prstGeom prst="rect">
            <a:avLst/>
          </a:prstGeom>
          <a:noFill/>
          <a:ln/>
        </p:spPr>
        <p:txBody>
          <a:bodyPr wrap="square" lIns="0" tIns="0" rIns="0" bIns="0" rtlCol="0" anchor="ctr"/>
          <a:lstStyle/>
          <a:p>
            <a:pPr indent="0" marL="0">
              <a:buNone/>
            </a:pPr>
            <a:r>
              <a:rPr lang="en-US" sz="1600" dirty="0">
                <a:solidFill>
                  <a:srgbClr val="4A6B50"/>
                </a:solidFill>
                <a:latin typeface="Georgia" pitchFamily="34" charset="0"/>
                <a:ea typeface="Georgia" pitchFamily="34" charset="-122"/>
                <a:cs typeface="Georgia" pitchFamily="34" charset="-120"/>
              </a:rPr>
              <a:t>En vivo</a:t>
            </a:r>
            <a:endParaRPr lang="en-US" sz="1600" dirty="0"/>
          </a:p>
        </p:txBody>
      </p:sp>
      <p:sp>
        <p:nvSpPr>
          <p:cNvPr id="10" name="Text 8"/>
          <p:cNvSpPr/>
          <p:nvPr/>
        </p:nvSpPr>
        <p:spPr>
          <a:xfrm>
            <a:off x="914400" y="333756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Restaurante → Hablar → ver Señales → callarse o Detener → chat + gramática.</a:t>
            </a:r>
            <a:endParaRPr lang="en-US" sz="1400" dirty="0"/>
          </a:p>
        </p:txBody>
      </p:sp>
      <p:sp>
        <p:nvSpPr>
          <p:cNvPr id="11" name="Shape 9"/>
          <p:cNvSpPr/>
          <p:nvPr/>
        </p:nvSpPr>
        <p:spPr>
          <a:xfrm>
            <a:off x="685800" y="438912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2" name="Text 10"/>
          <p:cNvSpPr/>
          <p:nvPr/>
        </p:nvSpPr>
        <p:spPr>
          <a:xfrm>
            <a:off x="914400" y="4526280"/>
            <a:ext cx="4800600" cy="320040"/>
          </a:xfrm>
          <a:prstGeom prst="rect">
            <a:avLst/>
          </a:prstGeom>
          <a:noFill/>
          <a:ln/>
        </p:spPr>
        <p:txBody>
          <a:bodyPr wrap="square" lIns="0" tIns="0" rIns="0" bIns="0" rtlCol="0" anchor="ctr"/>
          <a:lstStyle/>
          <a:p>
            <a:pPr indent="0" marL="0">
              <a:buNone/>
            </a:pPr>
            <a:r>
              <a:rPr lang="en-US" sz="1600" dirty="0">
                <a:solidFill>
                  <a:srgbClr val="4A6B50"/>
                </a:solidFill>
                <a:latin typeface="Georgia" pitchFamily="34" charset="0"/>
                <a:ea typeface="Georgia" pitchFamily="34" charset="-122"/>
                <a:cs typeface="Georgia" pitchFamily="34" charset="-120"/>
              </a:rPr>
              <a:t>Repetir</a:t>
            </a:r>
            <a:endParaRPr lang="en-US" sz="1600" dirty="0"/>
          </a:p>
        </p:txBody>
      </p:sp>
      <p:sp>
        <p:nvSpPr>
          <p:cNvPr id="13" name="Text 11"/>
          <p:cNvSpPr/>
          <p:nvPr/>
        </p:nvSpPr>
        <p:spPr>
          <a:xfrm>
            <a:off x="914400" y="489204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Modo drill: repetir la última línea del tutor. Ahí vive el 0–100.</a:t>
            </a:r>
            <a:endParaRPr lang="en-US" sz="1400" dirty="0"/>
          </a:p>
        </p:txBody>
      </p:sp>
      <p:sp>
        <p:nvSpPr>
          <p:cNvPr id="14" name="Shape 12"/>
          <p:cNvSpPr/>
          <p:nvPr/>
        </p:nvSpPr>
        <p:spPr>
          <a:xfrm>
            <a:off x="6217920" y="128016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5" name="Text 13"/>
          <p:cNvSpPr/>
          <p:nvPr/>
        </p:nvSpPr>
        <p:spPr>
          <a:xfrm>
            <a:off x="6446520" y="1417320"/>
            <a:ext cx="4800600" cy="320040"/>
          </a:xfrm>
          <a:prstGeom prst="rect">
            <a:avLst/>
          </a:prstGeom>
          <a:noFill/>
          <a:ln/>
        </p:spPr>
        <p:txBody>
          <a:bodyPr wrap="square" lIns="0" tIns="0" rIns="0" bIns="0" rtlCol="0" anchor="ctr"/>
          <a:lstStyle/>
          <a:p>
            <a:pPr indent="0" marL="0">
              <a:buNone/>
            </a:pPr>
            <a:r>
              <a:rPr lang="en-US" sz="1600" dirty="0">
                <a:solidFill>
                  <a:srgbClr val="B04F3C"/>
                </a:solidFill>
                <a:latin typeface="Georgia" pitchFamily="34" charset="0"/>
                <a:ea typeface="Georgia" pitchFamily="34" charset="-122"/>
                <a:cs typeface="Georgia" pitchFamily="34" charset="-120"/>
              </a:rPr>
              <a:t>Si no hay GPU</a:t>
            </a:r>
            <a:endParaRPr lang="en-US" sz="1600" dirty="0"/>
          </a:p>
        </p:txBody>
      </p:sp>
      <p:sp>
        <p:nvSpPr>
          <p:cNvPr id="16" name="Text 14"/>
          <p:cNvSpPr/>
          <p:nvPr/>
        </p:nvSpPr>
        <p:spPr>
          <a:xfrm>
            <a:off x="6446520" y="178308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Decirlo. Pasar a pnpm dev:latency (tiny-en). No afirmar &lt; 2 s.</a:t>
            </a:r>
            <a:endParaRPr lang="en-US" sz="1400" dirty="0"/>
          </a:p>
        </p:txBody>
      </p:sp>
      <p:sp>
        <p:nvSpPr>
          <p:cNvPr id="17" name="Shape 15"/>
          <p:cNvSpPr/>
          <p:nvPr/>
        </p:nvSpPr>
        <p:spPr>
          <a:xfrm>
            <a:off x="6217920" y="283464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8" name="Text 16"/>
          <p:cNvSpPr/>
          <p:nvPr/>
        </p:nvSpPr>
        <p:spPr>
          <a:xfrm>
            <a:off x="6446520" y="2971800"/>
            <a:ext cx="4800600" cy="320040"/>
          </a:xfrm>
          <a:prstGeom prst="rect">
            <a:avLst/>
          </a:prstGeom>
          <a:noFill/>
          <a:ln/>
        </p:spPr>
        <p:txBody>
          <a:bodyPr wrap="square" lIns="0" tIns="0" rIns="0" bIns="0" rtlCol="0" anchor="ctr"/>
          <a:lstStyle/>
          <a:p>
            <a:pPr indent="0" marL="0">
              <a:buNone/>
            </a:pPr>
            <a:r>
              <a:rPr lang="en-US" sz="1600" dirty="0">
                <a:solidFill>
                  <a:srgbClr val="B04F3C"/>
                </a:solidFill>
                <a:latin typeface="Georgia" pitchFamily="34" charset="0"/>
                <a:ea typeface="Georgia" pitchFamily="34" charset="-122"/>
                <a:cs typeface="Georgia" pitchFamily="34" charset="-120"/>
              </a:rPr>
              <a:t>Si falla el mic</a:t>
            </a:r>
            <a:endParaRPr lang="en-US" sz="1600" dirty="0"/>
          </a:p>
        </p:txBody>
      </p:sp>
      <p:sp>
        <p:nvSpPr>
          <p:cNvPr id="19" name="Text 17"/>
          <p:cNvSpPr/>
          <p:nvPr/>
        </p:nvSpPr>
        <p:spPr>
          <a:xfrm>
            <a:off x="6446520" y="333756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http://127.0.0.1:5173/?forzar-ensayo=1#practice-mock o pnpm build:ensayo.</a:t>
            </a:r>
            <a:endParaRPr lang="en-US" sz="1400" dirty="0"/>
          </a:p>
        </p:txBody>
      </p:sp>
      <p:sp>
        <p:nvSpPr>
          <p:cNvPr id="20" name="Shape 18"/>
          <p:cNvSpPr/>
          <p:nvPr/>
        </p:nvSpPr>
        <p:spPr>
          <a:xfrm>
            <a:off x="6217920" y="4389120"/>
            <a:ext cx="5257800" cy="14173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1" name="Text 19"/>
          <p:cNvSpPr/>
          <p:nvPr/>
        </p:nvSpPr>
        <p:spPr>
          <a:xfrm>
            <a:off x="6446520" y="4526280"/>
            <a:ext cx="4800600" cy="320040"/>
          </a:xfrm>
          <a:prstGeom prst="rect">
            <a:avLst/>
          </a:prstGeom>
          <a:noFill/>
          <a:ln/>
        </p:spPr>
        <p:txBody>
          <a:bodyPr wrap="square" lIns="0" tIns="0" rIns="0" bIns="0" rtlCol="0" anchor="ctr"/>
          <a:lstStyle/>
          <a:p>
            <a:pPr indent="0" marL="0">
              <a:buNone/>
            </a:pPr>
            <a:r>
              <a:rPr lang="en-US" sz="1600" dirty="0">
                <a:solidFill>
                  <a:srgbClr val="B04F3C"/>
                </a:solidFill>
                <a:latin typeface="Georgia" pitchFamily="34" charset="0"/>
                <a:ea typeface="Georgia" pitchFamily="34" charset="-122"/>
                <a:cs typeface="Georgia" pitchFamily="34" charset="-120"/>
              </a:rPr>
              <a:t>Si el SW está viejo</a:t>
            </a:r>
            <a:endParaRPr lang="en-US" sz="1600" dirty="0"/>
          </a:p>
        </p:txBody>
      </p:sp>
      <p:sp>
        <p:nvSpPr>
          <p:cNvPr id="22" name="Text 20"/>
          <p:cNvSpPr/>
          <p:nvPr/>
        </p:nvSpPr>
        <p:spPr>
          <a:xfrm>
            <a:off x="6446520" y="4892040"/>
            <a:ext cx="4800600" cy="77724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Ventana privada, o Unregister service worker + F5.</a:t>
            </a:r>
            <a:endParaRPr lang="en-US" sz="1400" dirty="0"/>
          </a:p>
        </p:txBody>
      </p:sp>
      <p:sp>
        <p:nvSpPr>
          <p:cNvPr id="23" name="Text 21"/>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PROCESAMIENTO DE SEÑALES</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09 / 12</a:t>
            </a:r>
            <a:endParaRPr lang="en-US" sz="1100" dirty="0"/>
          </a:p>
        </p:txBody>
      </p:sp>
      <p:sp>
        <p:nvSpPr>
          <p:cNvPr id="4" name="Text 2"/>
          <p:cNvSpPr/>
          <p:nvPr/>
        </p:nvSpPr>
        <p:spPr>
          <a:xfrm>
            <a:off x="685800" y="640080"/>
            <a:ext cx="10972800" cy="457200"/>
          </a:xfrm>
          <a:prstGeom prst="rect">
            <a:avLst/>
          </a:prstGeom>
          <a:noFill/>
          <a:ln/>
        </p:spPr>
        <p:txBody>
          <a:bodyPr wrap="square" lIns="0" tIns="0" rIns="0" bIns="0" rtlCol="0" anchor="ctr"/>
          <a:lstStyle/>
          <a:p>
            <a:pPr indent="0" marL="0">
              <a:buNone/>
            </a:pPr>
            <a:r>
              <a:rPr lang="en-US" sz="2800" dirty="0">
                <a:solidFill>
                  <a:srgbClr val="2C322C"/>
                </a:solidFill>
                <a:latin typeface="Georgia" pitchFamily="34" charset="0"/>
                <a:ea typeface="Georgia" pitchFamily="34" charset="-122"/>
                <a:cs typeface="Georgia" pitchFamily="34" charset="-120"/>
              </a:rPr>
              <a:t>Cifras que podemos defender.</a:t>
            </a:r>
            <a:endParaRPr lang="en-US" sz="2800" dirty="0"/>
          </a:p>
        </p:txBody>
      </p:sp>
      <p:sp>
        <p:nvSpPr>
          <p:cNvPr id="5" name="Shape 3"/>
          <p:cNvSpPr/>
          <p:nvPr/>
        </p:nvSpPr>
        <p:spPr>
          <a:xfrm>
            <a:off x="685800" y="128016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14400" y="146304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FFT propia</a:t>
            </a:r>
            <a:endParaRPr lang="en-US" sz="1300" dirty="0"/>
          </a:p>
        </p:txBody>
      </p:sp>
      <p:sp>
        <p:nvSpPr>
          <p:cNvPr id="7" name="Text 5"/>
          <p:cNvSpPr/>
          <p:nvPr/>
        </p:nvSpPr>
        <p:spPr>
          <a:xfrm>
            <a:off x="914400" y="182880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&lt; 1e-10</a:t>
            </a:r>
            <a:endParaRPr lang="en-US" sz="2200" dirty="0"/>
          </a:p>
        </p:txBody>
      </p:sp>
      <p:sp>
        <p:nvSpPr>
          <p:cNvPr id="8" name="Text 6"/>
          <p:cNvSpPr/>
          <p:nvPr/>
        </p:nvSpPr>
        <p:spPr>
          <a:xfrm>
            <a:off x="914400" y="242316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Radix-2 vs DFT O(N²). No usamos la FFT del Analyser.</a:t>
            </a:r>
            <a:endParaRPr lang="en-US" sz="1400" dirty="0"/>
          </a:p>
        </p:txBody>
      </p:sp>
      <p:sp>
        <p:nvSpPr>
          <p:cNvPr id="9" name="Shape 7"/>
          <p:cNvSpPr/>
          <p:nvPr/>
        </p:nvSpPr>
        <p:spPr>
          <a:xfrm>
            <a:off x="4343400" y="128016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0" name="Text 8"/>
          <p:cNvSpPr/>
          <p:nvPr/>
        </p:nvSpPr>
        <p:spPr>
          <a:xfrm>
            <a:off x="4572000" y="146304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MFCC</a:t>
            </a:r>
            <a:endParaRPr lang="en-US" sz="1300" dirty="0"/>
          </a:p>
        </p:txBody>
      </p:sp>
      <p:sp>
        <p:nvSpPr>
          <p:cNvPr id="11" name="Text 9"/>
          <p:cNvSpPr/>
          <p:nvPr/>
        </p:nvSpPr>
        <p:spPr>
          <a:xfrm>
            <a:off x="4572000" y="182880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13 / 40 mel</a:t>
            </a:r>
            <a:endParaRPr lang="en-US" sz="2200" dirty="0"/>
          </a:p>
        </p:txBody>
      </p:sp>
      <p:sp>
        <p:nvSpPr>
          <p:cNvPr id="12" name="Text 10"/>
          <p:cNvSpPr/>
          <p:nvPr/>
        </p:nvSpPr>
        <p:spPr>
          <a:xfrm>
            <a:off x="4572000" y="242316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Hann 25 ms, hop 10 ms. Sin Meyda. Dorados a 1e-5.</a:t>
            </a:r>
            <a:endParaRPr lang="en-US" sz="1400" dirty="0"/>
          </a:p>
        </p:txBody>
      </p:sp>
      <p:sp>
        <p:nvSpPr>
          <p:cNvPr id="13" name="Shape 11"/>
          <p:cNvSpPr/>
          <p:nvPr/>
        </p:nvSpPr>
        <p:spPr>
          <a:xfrm>
            <a:off x="8001000" y="128016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4" name="Text 12"/>
          <p:cNvSpPr/>
          <p:nvPr/>
        </p:nvSpPr>
        <p:spPr>
          <a:xfrm>
            <a:off x="8229600" y="146304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YIN</a:t>
            </a:r>
            <a:endParaRPr lang="en-US" sz="1300" dirty="0"/>
          </a:p>
        </p:txBody>
      </p:sp>
      <p:sp>
        <p:nvSpPr>
          <p:cNvPr id="15" name="Text 13"/>
          <p:cNvSpPr/>
          <p:nvPr/>
        </p:nvSpPr>
        <p:spPr>
          <a:xfrm>
            <a:off x="8229600" y="182880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70–400 Hz</a:t>
            </a:r>
            <a:endParaRPr lang="en-US" sz="2200" dirty="0"/>
          </a:p>
        </p:txBody>
      </p:sp>
      <p:sp>
        <p:nvSpPr>
          <p:cNvPr id="16" name="Text 14"/>
          <p:cNvSpPr/>
          <p:nvPr/>
        </p:nvSpPr>
        <p:spPr>
          <a:xfrm>
            <a:off x="8229600" y="242316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Diferencia normalizada acumulada. Menos errores de octava.</a:t>
            </a:r>
            <a:endParaRPr lang="en-US" sz="1400" dirty="0"/>
          </a:p>
        </p:txBody>
      </p:sp>
      <p:sp>
        <p:nvSpPr>
          <p:cNvPr id="17" name="Shape 15"/>
          <p:cNvSpPr/>
          <p:nvPr/>
        </p:nvSpPr>
        <p:spPr>
          <a:xfrm>
            <a:off x="685800" y="361188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8" name="Text 16"/>
          <p:cNvSpPr/>
          <p:nvPr/>
        </p:nvSpPr>
        <p:spPr>
          <a:xfrm>
            <a:off x="914400" y="379476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FIR 16 kHz</a:t>
            </a:r>
            <a:endParaRPr lang="en-US" sz="1300" dirty="0"/>
          </a:p>
        </p:txBody>
      </p:sp>
      <p:sp>
        <p:nvSpPr>
          <p:cNvPr id="19" name="Text 17"/>
          <p:cNvSpPr/>
          <p:nvPr/>
        </p:nvSpPr>
        <p:spPr>
          <a:xfrm>
            <a:off x="914400" y="416052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 50 dB</a:t>
            </a:r>
            <a:endParaRPr lang="en-US" sz="2200" dirty="0"/>
          </a:p>
        </p:txBody>
      </p:sp>
      <p:sp>
        <p:nvSpPr>
          <p:cNvPr id="20" name="Text 18"/>
          <p:cNvSpPr/>
          <p:nvPr/>
        </p:nvSpPr>
        <p:spPr>
          <a:xfrm>
            <a:off x="914400" y="475488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Fase lineal. 48 kHz ×3; 44.1 es 160/441. Alias ~85 dB.</a:t>
            </a:r>
            <a:endParaRPr lang="en-US" sz="1400" dirty="0"/>
          </a:p>
        </p:txBody>
      </p:sp>
      <p:sp>
        <p:nvSpPr>
          <p:cNvPr id="21" name="Shape 19"/>
          <p:cNvSpPr/>
          <p:nvPr/>
        </p:nvSpPr>
        <p:spPr>
          <a:xfrm>
            <a:off x="4343400" y="361188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2" name="Text 20"/>
          <p:cNvSpPr/>
          <p:nvPr/>
        </p:nvSpPr>
        <p:spPr>
          <a:xfrm>
            <a:off x="4572000" y="379476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DTW</a:t>
            </a:r>
            <a:endParaRPr lang="en-US" sz="1300" dirty="0"/>
          </a:p>
        </p:txBody>
      </p:sp>
      <p:sp>
        <p:nvSpPr>
          <p:cNvPr id="23" name="Text 21"/>
          <p:cNvSpPr/>
          <p:nvPr/>
        </p:nvSpPr>
        <p:spPr>
          <a:xfrm>
            <a:off x="4572000" y="416052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L2 + path</a:t>
            </a:r>
            <a:endParaRPr lang="en-US" sz="2200" dirty="0"/>
          </a:p>
        </p:txBody>
      </p:sp>
      <p:sp>
        <p:nvSpPr>
          <p:cNvPr id="24" name="Text 22"/>
          <p:cNvSpPr/>
          <p:nvPr/>
        </p:nvSpPr>
        <p:spPr>
          <a:xfrm>
            <a:off x="4572000" y="475488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Alinea ritmo user vs TTS. Score 0–100 en Repetir.</a:t>
            </a:r>
            <a:endParaRPr lang="en-US" sz="1400" dirty="0"/>
          </a:p>
        </p:txBody>
      </p:sp>
      <p:sp>
        <p:nvSpPr>
          <p:cNvPr id="25" name="Shape 23"/>
          <p:cNvSpPr/>
          <p:nvPr/>
        </p:nvSpPr>
        <p:spPr>
          <a:xfrm>
            <a:off x="8001000" y="3611880"/>
            <a:ext cx="3474720" cy="2148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26" name="Text 24"/>
          <p:cNvSpPr/>
          <p:nvPr/>
        </p:nvSpPr>
        <p:spPr>
          <a:xfrm>
            <a:off x="8229600" y="3794760"/>
            <a:ext cx="3017520" cy="365760"/>
          </a:xfrm>
          <a:prstGeom prst="rect">
            <a:avLst/>
          </a:prstGeom>
          <a:noFill/>
          <a:ln/>
        </p:spPr>
        <p:txBody>
          <a:bodyPr wrap="square" lIns="0" tIns="0" rIns="0" bIns="0" rtlCol="0" anchor="ctr"/>
          <a:lstStyle/>
          <a:p>
            <a:pPr indent="0" marL="0">
              <a:buNone/>
            </a:pPr>
            <a:r>
              <a:rPr lang="en-US" sz="1300" dirty="0">
                <a:solidFill>
                  <a:srgbClr val="6A7068"/>
                </a:solidFill>
                <a:latin typeface="Calibri" pitchFamily="34" charset="0"/>
                <a:ea typeface="Calibri" pitchFamily="34" charset="-122"/>
                <a:cs typeface="Calibri" pitchFamily="34" charset="-120"/>
              </a:rPr>
              <a:t>VAD</a:t>
            </a:r>
            <a:endParaRPr lang="en-US" sz="1300" dirty="0"/>
          </a:p>
        </p:txBody>
      </p:sp>
      <p:sp>
        <p:nvSpPr>
          <p:cNvPr id="27" name="Text 25"/>
          <p:cNvSpPr/>
          <p:nvPr/>
        </p:nvSpPr>
        <p:spPr>
          <a:xfrm>
            <a:off x="8229600" y="4160520"/>
            <a:ext cx="3017520" cy="502920"/>
          </a:xfrm>
          <a:prstGeom prst="rect">
            <a:avLst/>
          </a:prstGeom>
          <a:noFill/>
          <a:ln/>
        </p:spPr>
        <p:txBody>
          <a:bodyPr wrap="square" lIns="0" tIns="0" rIns="0" bIns="0" rtlCol="0" anchor="ctr"/>
          <a:lstStyle/>
          <a:p>
            <a:pPr indent="0" marL="0">
              <a:buNone/>
            </a:pPr>
            <a:r>
              <a:rPr lang="en-US" sz="2200" dirty="0">
                <a:solidFill>
                  <a:srgbClr val="4A6B50"/>
                </a:solidFill>
                <a:latin typeface="Georgia" pitchFamily="34" charset="0"/>
                <a:ea typeface="Georgia" pitchFamily="34" charset="-122"/>
                <a:cs typeface="Georgia" pitchFamily="34" charset="-120"/>
              </a:rPr>
              <a:t>~0.9 s</a:t>
            </a:r>
            <a:endParaRPr lang="en-US" sz="2200" dirty="0"/>
          </a:p>
        </p:txBody>
      </p:sp>
      <p:sp>
        <p:nvSpPr>
          <p:cNvPr id="28" name="Text 26"/>
          <p:cNvSpPr/>
          <p:nvPr/>
        </p:nvSpPr>
        <p:spPr>
          <a:xfrm>
            <a:off x="8229600" y="4754880"/>
            <a:ext cx="3017520" cy="82296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Hangover de silencio. Auto-stop sin cortar a mitad de frase.</a:t>
            </a:r>
            <a:endParaRPr lang="en-US" sz="1400" dirty="0"/>
          </a:p>
        </p:txBody>
      </p:sp>
      <p:sp>
        <p:nvSpPr>
          <p:cNvPr id="29" name="Text 27"/>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SCORE E IA</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10 / 12</a:t>
            </a:r>
            <a:endParaRPr lang="en-US" sz="1100" dirty="0"/>
          </a:p>
        </p:txBody>
      </p:sp>
      <p:sp>
        <p:nvSpPr>
          <p:cNvPr id="4" name="Text 2"/>
          <p:cNvSpPr/>
          <p:nvPr/>
        </p:nvSpPr>
        <p:spPr>
          <a:xfrm>
            <a:off x="685800" y="640080"/>
            <a:ext cx="10972800" cy="502920"/>
          </a:xfrm>
          <a:prstGeom prst="rect">
            <a:avLst/>
          </a:prstGeom>
          <a:noFill/>
          <a:ln/>
        </p:spPr>
        <p:txBody>
          <a:bodyPr wrap="square" lIns="0" tIns="0" rIns="0" bIns="0" rtlCol="0" anchor="ctr"/>
          <a:lstStyle/>
          <a:p>
            <a:pPr indent="0" marL="0">
              <a:buNone/>
            </a:pPr>
            <a:r>
              <a:rPr lang="en-US" sz="2600" dirty="0">
                <a:solidFill>
                  <a:srgbClr val="2C322C"/>
                </a:solidFill>
                <a:latin typeface="Georgia" pitchFamily="34" charset="0"/>
                <a:ea typeface="Georgia" pitchFamily="34" charset="-122"/>
                <a:cs typeface="Georgia" pitchFamily="34" charset="-120"/>
              </a:rPr>
              <a:t>Medimos pronunciación donde el número no miente.</a:t>
            </a:r>
            <a:endParaRPr lang="en-US" sz="2600" dirty="0"/>
          </a:p>
        </p:txBody>
      </p:sp>
      <p:sp>
        <p:nvSpPr>
          <p:cNvPr id="5" name="Shape 3"/>
          <p:cNvSpPr/>
          <p:nvPr/>
        </p:nvSpPr>
        <p:spPr>
          <a:xfrm>
            <a:off x="685800" y="1325880"/>
            <a:ext cx="5349240" cy="4434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60120" y="1508760"/>
            <a:ext cx="4800600" cy="365760"/>
          </a:xfrm>
          <a:prstGeom prst="rect">
            <a:avLst/>
          </a:prstGeom>
          <a:noFill/>
          <a:ln/>
        </p:spPr>
        <p:txBody>
          <a:bodyPr wrap="square" lIns="0" tIns="0" rIns="0" bIns="0" rtlCol="0" anchor="ctr"/>
          <a:lstStyle/>
          <a:p>
            <a:pPr indent="0" marL="0">
              <a:buNone/>
            </a:pPr>
            <a:r>
              <a:rPr lang="en-US" sz="1800" dirty="0">
                <a:solidFill>
                  <a:srgbClr val="2C322C"/>
                </a:solidFill>
                <a:latin typeface="Georgia" pitchFamily="34" charset="0"/>
                <a:ea typeface="Georgia" pitchFamily="34" charset="-122"/>
                <a:cs typeface="Georgia" pitchFamily="34" charset="-120"/>
              </a:rPr>
              <a:t>Sesgo de locutor</a:t>
            </a:r>
            <a:endParaRPr lang="en-US" sz="1800" dirty="0"/>
          </a:p>
        </p:txBody>
      </p:sp>
      <p:sp>
        <p:nvSpPr>
          <p:cNvPr id="7" name="Text 5"/>
          <p:cNvSpPr/>
          <p:nvPr/>
        </p:nvSpPr>
        <p:spPr>
          <a:xfrm>
            <a:off x="960120" y="2011680"/>
            <a:ext cx="4800600" cy="502920"/>
          </a:xfrm>
          <a:prstGeom prst="rect">
            <a:avLst/>
          </a:prstGeom>
          <a:noFill/>
          <a:ln/>
        </p:spPr>
        <p:txBody>
          <a:bodyPr wrap="square" lIns="0" tIns="0" rIns="0" bIns="0" rtlCol="0" anchor="ctr"/>
          <a:lstStyle/>
          <a:p>
            <a:pPr indent="0" marL="0">
              <a:buNone/>
            </a:pPr>
            <a:r>
              <a:rPr lang="en-US" sz="2800" dirty="0">
                <a:solidFill>
                  <a:srgbClr val="B04F3C"/>
                </a:solidFill>
                <a:latin typeface="Georgia" pitchFamily="34" charset="0"/>
                <a:ea typeface="Georgia" pitchFamily="34" charset="-122"/>
                <a:cs typeface="Georgia" pitchFamily="34" charset="-120"/>
              </a:rPr>
              <a:t>Δlocutor  11.4</a:t>
            </a:r>
            <a:endParaRPr lang="en-US" sz="2800" dirty="0"/>
          </a:p>
        </p:txBody>
      </p:sp>
      <p:sp>
        <p:nvSpPr>
          <p:cNvPr id="8" name="Text 6"/>
          <p:cNvSpPr/>
          <p:nvPr/>
        </p:nvSpPr>
        <p:spPr>
          <a:xfrm>
            <a:off x="960120" y="2560320"/>
            <a:ext cx="4800600" cy="365760"/>
          </a:xfrm>
          <a:prstGeom prst="rect">
            <a:avLst/>
          </a:prstGeom>
          <a:noFill/>
          <a:ln/>
        </p:spPr>
        <p:txBody>
          <a:bodyPr wrap="square" lIns="0" tIns="0" rIns="0" bIns="0" rtlCol="0" anchor="ctr"/>
          <a:lstStyle/>
          <a:p>
            <a:pPr indent="0" marL="0">
              <a:buNone/>
            </a:pPr>
            <a:r>
              <a:rPr lang="en-US" sz="1600" dirty="0">
                <a:solidFill>
                  <a:srgbClr val="6A7068"/>
                </a:solidFill>
                <a:latin typeface="Calibri" pitchFamily="34" charset="0"/>
                <a:ea typeface="Calibri" pitchFamily="34" charset="-122"/>
                <a:cs typeface="Calibri" pitchFamily="34" charset="-120"/>
              </a:rPr>
              <a:t>Δerror vocal  9.2   ·   ratio  1.23</a:t>
            </a:r>
            <a:endParaRPr lang="en-US" sz="1600" dirty="0"/>
          </a:p>
        </p:txBody>
      </p:sp>
      <p:sp>
        <p:nvSpPr>
          <p:cNvPr id="9" name="Text 7"/>
          <p:cNvSpPr/>
          <p:nvPr/>
        </p:nvSpPr>
        <p:spPr>
          <a:xfrm>
            <a:off x="960120" y="3108960"/>
            <a:ext cx="4800600" cy="2194560"/>
          </a:xfrm>
          <a:prstGeom prst="rect">
            <a:avLst/>
          </a:prstGeom>
          <a:noFill/>
          <a:ln/>
        </p:spPr>
        <p:txBody>
          <a:bodyPr wrap="square" lIns="0" tIns="0" rIns="0" bIns="0" rtlCol="0" anchor="ctr"/>
          <a:lstStyle/>
          <a:p>
            <a:pPr indent="0" marL="0">
              <a:buNone/>
            </a:pPr>
            <a:r>
              <a:rPr lang="en-US" sz="1500" dirty="0">
                <a:solidFill>
                  <a:srgbClr val="6A7068"/>
                </a:solidFill>
                <a:latin typeface="Calibri" pitchFamily="34" charset="0"/>
                <a:ea typeface="Calibri" pitchFamily="34" charset="-122"/>
                <a:cs typeface="Calibri" pitchFamily="34" charset="-120"/>
              </a:rPr>
              <a:t>Cambiar de locutor sintético mueve el score tanto o más que un error de vocal. Por eso conversación no muestra 0–100. La nota está en Repetir. Sin habla usable no se puntúa.</a:t>
            </a:r>
            <a:endParaRPr lang="en-US" sz="1500" dirty="0"/>
          </a:p>
        </p:txBody>
      </p:sp>
      <p:sp>
        <p:nvSpPr>
          <p:cNvPr id="10" name="Shape 8"/>
          <p:cNvSpPr/>
          <p:nvPr/>
        </p:nvSpPr>
        <p:spPr>
          <a:xfrm>
            <a:off x="6309360" y="1325880"/>
            <a:ext cx="5349240" cy="443484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1" name="Text 9"/>
          <p:cNvSpPr/>
          <p:nvPr/>
        </p:nvSpPr>
        <p:spPr>
          <a:xfrm>
            <a:off x="6583680" y="1508760"/>
            <a:ext cx="4800600" cy="365760"/>
          </a:xfrm>
          <a:prstGeom prst="rect">
            <a:avLst/>
          </a:prstGeom>
          <a:noFill/>
          <a:ln/>
        </p:spPr>
        <p:txBody>
          <a:bodyPr wrap="square" lIns="0" tIns="0" rIns="0" bIns="0" rtlCol="0" anchor="ctr"/>
          <a:lstStyle/>
          <a:p>
            <a:pPr indent="0" marL="0">
              <a:buNone/>
            </a:pPr>
            <a:r>
              <a:rPr lang="en-US" sz="1800" dirty="0">
                <a:solidFill>
                  <a:srgbClr val="2C322C"/>
                </a:solidFill>
                <a:latin typeface="Georgia" pitchFamily="34" charset="0"/>
                <a:ea typeface="Georgia" pitchFamily="34" charset="-122"/>
                <a:cs typeface="Georgia" pitchFamily="34" charset="-120"/>
              </a:rPr>
              <a:t>Modelos en el navegador</a:t>
            </a:r>
            <a:endParaRPr lang="en-US" sz="1800" dirty="0"/>
          </a:p>
        </p:txBody>
      </p:sp>
      <p:sp>
        <p:nvSpPr>
          <p:cNvPr id="12" name="Text 10"/>
          <p:cNvSpPr/>
          <p:nvPr/>
        </p:nvSpPr>
        <p:spPr>
          <a:xfrm>
            <a:off x="6583680" y="2011680"/>
            <a:ext cx="4800600" cy="68580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Whisper small.en  ·  WER 0.000 en nuestras fixtures  ·  ~3.4 s WebGPU</a:t>
            </a:r>
            <a:endParaRPr lang="en-US" sz="1400" dirty="0"/>
          </a:p>
        </p:txBody>
      </p:sp>
      <p:sp>
        <p:nvSpPr>
          <p:cNvPr id="13" name="Text 11"/>
          <p:cNvSpPr/>
          <p:nvPr/>
        </p:nvSpPr>
        <p:spPr>
          <a:xfrm>
            <a:off x="6583680" y="2788920"/>
            <a:ext cx="4800600" cy="68580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T5 gramática  ·  WASM  ·  se ve en el chat antes del tutor</a:t>
            </a:r>
            <a:endParaRPr lang="en-US" sz="1400" dirty="0"/>
          </a:p>
        </p:txBody>
      </p:sp>
      <p:sp>
        <p:nvSpPr>
          <p:cNvPr id="14" name="Text 12"/>
          <p:cNvSpPr/>
          <p:nvPr/>
        </p:nvSpPr>
        <p:spPr>
          <a:xfrm>
            <a:off x="6583680" y="3566160"/>
            <a:ext cx="4800600" cy="68580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SmolLM2  ·  timeout 10 s  ·  respaldo de reglas con insignia honesta</a:t>
            </a:r>
            <a:endParaRPr lang="en-US" sz="1400" dirty="0"/>
          </a:p>
        </p:txBody>
      </p:sp>
      <p:sp>
        <p:nvSpPr>
          <p:cNvPr id="15" name="Text 13"/>
          <p:cNvSpPr/>
          <p:nvPr/>
        </p:nvSpPr>
        <p:spPr>
          <a:xfrm>
            <a:off x="6583680" y="4343400"/>
            <a:ext cx="4800600" cy="685800"/>
          </a:xfrm>
          <a:prstGeom prst="rect">
            <a:avLst/>
          </a:prstGeom>
          <a:noFill/>
          <a:ln/>
        </p:spPr>
        <p:txBody>
          <a:bodyPr wrap="square" lIns="0" tIns="0" rIns="0" bIns="0" rtlCol="0" anchor="ctr"/>
          <a:lstStyle/>
          <a:p>
            <a:pPr indent="0" marL="0">
              <a:buNone/>
            </a:pPr>
            <a:r>
              <a:rPr lang="en-US" sz="1400" dirty="0">
                <a:solidFill>
                  <a:srgbClr val="6A7068"/>
                </a:solidFill>
                <a:latin typeface="Calibri" pitchFamily="34" charset="0"/>
                <a:ea typeface="Calibri" pitchFamily="34" charset="-122"/>
                <a:cs typeface="Calibri" pitchFamily="34" charset="-120"/>
              </a:rPr>
              <a:t>SpeechT5  ·  referencia acústica y voz del tutor</a:t>
            </a:r>
            <a:endParaRPr lang="en-US" sz="1400" dirty="0"/>
          </a:p>
        </p:txBody>
      </p:sp>
      <p:sp>
        <p:nvSpPr>
          <p:cNvPr id="16" name="Text 14"/>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6A7068"/>
                </a:solidFill>
                <a:latin typeface="Calibri" pitchFamily="34" charset="0"/>
                <a:ea typeface="Calibri" pitchFamily="34" charset="-122"/>
                <a:cs typeface="Calibri" pitchFamily="34" charset="-120"/>
              </a:rPr>
              <a:t>HACIA LA ENTREGA FINAL</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6A7068"/>
                </a:solidFill>
                <a:latin typeface="Calibri" pitchFamily="34" charset="0"/>
                <a:ea typeface="Calibri" pitchFamily="34" charset="-122"/>
                <a:cs typeface="Calibri" pitchFamily="34" charset="-120"/>
              </a:rPr>
              <a:t>11 / 12</a:t>
            </a:r>
            <a:endParaRPr lang="en-US" sz="1100" dirty="0"/>
          </a:p>
        </p:txBody>
      </p:sp>
      <p:sp>
        <p:nvSpPr>
          <p:cNvPr id="4" name="Text 2"/>
          <p:cNvSpPr/>
          <p:nvPr/>
        </p:nvSpPr>
        <p:spPr>
          <a:xfrm>
            <a:off x="685800" y="640080"/>
            <a:ext cx="10972800" cy="502920"/>
          </a:xfrm>
          <a:prstGeom prst="rect">
            <a:avLst/>
          </a:prstGeom>
          <a:noFill/>
          <a:ln/>
        </p:spPr>
        <p:txBody>
          <a:bodyPr wrap="square" lIns="0" tIns="0" rIns="0" bIns="0" rtlCol="0" anchor="ctr"/>
          <a:lstStyle/>
          <a:p>
            <a:pPr indent="0" marL="0">
              <a:buNone/>
            </a:pPr>
            <a:r>
              <a:rPr lang="en-US" sz="2600" dirty="0">
                <a:solidFill>
                  <a:srgbClr val="2C322C"/>
                </a:solidFill>
                <a:latin typeface="Georgia" pitchFamily="34" charset="0"/>
                <a:ea typeface="Georgia" pitchFamily="34" charset="-122"/>
                <a:cs typeface="Georgia" pitchFamily="34" charset="-120"/>
              </a:rPr>
              <a:t>Lo que no cerramos, y por qué no lo escondemos.</a:t>
            </a:r>
            <a:endParaRPr lang="en-US" sz="2600" dirty="0"/>
          </a:p>
        </p:txBody>
      </p:sp>
      <p:sp>
        <p:nvSpPr>
          <p:cNvPr id="5" name="Shape 3"/>
          <p:cNvSpPr/>
          <p:nvPr/>
        </p:nvSpPr>
        <p:spPr>
          <a:xfrm>
            <a:off x="685800" y="1325880"/>
            <a:ext cx="10789920" cy="9601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6" name="Text 4"/>
          <p:cNvSpPr/>
          <p:nvPr/>
        </p:nvSpPr>
        <p:spPr>
          <a:xfrm>
            <a:off x="960120" y="1325880"/>
            <a:ext cx="1097280" cy="96012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#58</a:t>
            </a:r>
            <a:endParaRPr lang="en-US" sz="1800" dirty="0"/>
          </a:p>
        </p:txBody>
      </p:sp>
      <p:sp>
        <p:nvSpPr>
          <p:cNvPr id="7" name="Text 5"/>
          <p:cNvSpPr/>
          <p:nvPr/>
        </p:nvSpPr>
        <p:spPr>
          <a:xfrm>
            <a:off x="2240280" y="1325880"/>
            <a:ext cx="8869680" cy="96012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Energía y formantes dentro del score, no solo en el panel.</a:t>
            </a:r>
            <a:endParaRPr lang="en-US" sz="1800" dirty="0"/>
          </a:p>
        </p:txBody>
      </p:sp>
      <p:sp>
        <p:nvSpPr>
          <p:cNvPr id="8" name="Shape 6"/>
          <p:cNvSpPr/>
          <p:nvPr/>
        </p:nvSpPr>
        <p:spPr>
          <a:xfrm>
            <a:off x="685800" y="2423160"/>
            <a:ext cx="10789920" cy="9601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9" name="Text 7"/>
          <p:cNvSpPr/>
          <p:nvPr/>
        </p:nvSpPr>
        <p:spPr>
          <a:xfrm>
            <a:off x="960120" y="2423160"/>
            <a:ext cx="1097280" cy="96012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#73</a:t>
            </a:r>
            <a:endParaRPr lang="en-US" sz="1800" dirty="0"/>
          </a:p>
        </p:txBody>
      </p:sp>
      <p:sp>
        <p:nvSpPr>
          <p:cNvPr id="10" name="Text 8"/>
          <p:cNvSpPr/>
          <p:nvPr/>
        </p:nvSpPr>
        <p:spPr>
          <a:xfrm>
            <a:off x="2240280" y="2423160"/>
            <a:ext cx="8869680" cy="96012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Pasa-banda idéntico en user y referencia TTS.</a:t>
            </a:r>
            <a:endParaRPr lang="en-US" sz="1800" dirty="0"/>
          </a:p>
        </p:txBody>
      </p:sp>
      <p:sp>
        <p:nvSpPr>
          <p:cNvPr id="11" name="Shape 9"/>
          <p:cNvSpPr/>
          <p:nvPr/>
        </p:nvSpPr>
        <p:spPr>
          <a:xfrm>
            <a:off x="685800" y="3520440"/>
            <a:ext cx="10789920" cy="9601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2" name="Text 10"/>
          <p:cNvSpPr/>
          <p:nvPr/>
        </p:nvSpPr>
        <p:spPr>
          <a:xfrm>
            <a:off x="960120" y="3520440"/>
            <a:ext cx="1097280" cy="96012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#76</a:t>
            </a:r>
            <a:endParaRPr lang="en-US" sz="1800" dirty="0"/>
          </a:p>
        </p:txBody>
      </p:sp>
      <p:sp>
        <p:nvSpPr>
          <p:cNvPr id="13" name="Text 11"/>
          <p:cNvSpPr/>
          <p:nvPr/>
        </p:nvSpPr>
        <p:spPr>
          <a:xfrm>
            <a:off x="2240280" y="3520440"/>
            <a:ext cx="8869680" cy="96012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Mapa F1–F2 de vocales.</a:t>
            </a:r>
            <a:endParaRPr lang="en-US" sz="1800" dirty="0"/>
          </a:p>
        </p:txBody>
      </p:sp>
      <p:sp>
        <p:nvSpPr>
          <p:cNvPr id="14" name="Shape 12"/>
          <p:cNvSpPr/>
          <p:nvPr/>
        </p:nvSpPr>
        <p:spPr>
          <a:xfrm>
            <a:off x="685800" y="4617720"/>
            <a:ext cx="10789920" cy="960120"/>
          </a:xfrm>
          <a:prstGeom prst="rect">
            <a:avLst/>
          </a:prstGeom>
          <a:solidFill>
            <a:srgbClr val="FBFAF7"/>
          </a:solidFill>
          <a:ln w="12700">
            <a:solidFill>
              <a:srgbClr val="E2DFD6"/>
            </a:solidFill>
            <a:prstDash val="solid"/>
          </a:ln>
          <a:effectLst>
            <a:outerShdw sx="100000" sy="100000" kx="0" ky="0" algn="bl" rotWithShape="0" blurRad="101600" dist="38100" dir="8100000">
              <a:srgbClr val="000000">
                <a:alpha val="8000"/>
              </a:srgbClr>
            </a:outerShdw>
          </a:effectLst>
        </p:spPr>
      </p:sp>
      <p:sp>
        <p:nvSpPr>
          <p:cNvPr id="15" name="Text 13"/>
          <p:cNvSpPr/>
          <p:nvPr/>
        </p:nvSpPr>
        <p:spPr>
          <a:xfrm>
            <a:off x="960120" y="4617720"/>
            <a:ext cx="1097280" cy="960120"/>
          </a:xfrm>
          <a:prstGeom prst="rect">
            <a:avLst/>
          </a:prstGeom>
          <a:noFill/>
          <a:ln/>
        </p:spPr>
        <p:txBody>
          <a:bodyPr wrap="square" lIns="0" tIns="0" rIns="0" bIns="0" rtlCol="0" anchor="ctr"/>
          <a:lstStyle/>
          <a:p>
            <a:pPr indent="0" marL="0">
              <a:buNone/>
            </a:pPr>
            <a:r>
              <a:rPr lang="en-US" sz="1800" dirty="0">
                <a:solidFill>
                  <a:srgbClr val="4A6B50"/>
                </a:solidFill>
                <a:latin typeface="Consolas" pitchFamily="34" charset="0"/>
                <a:ea typeface="Consolas" pitchFamily="34" charset="-122"/>
                <a:cs typeface="Consolas" pitchFamily="34" charset="-120"/>
              </a:rPr>
              <a:t>#63</a:t>
            </a:r>
            <a:endParaRPr lang="en-US" sz="1800" dirty="0"/>
          </a:p>
        </p:txBody>
      </p:sp>
      <p:sp>
        <p:nvSpPr>
          <p:cNvPr id="16" name="Text 14"/>
          <p:cNvSpPr/>
          <p:nvPr/>
        </p:nvSpPr>
        <p:spPr>
          <a:xfrm>
            <a:off x="2240280" y="4617720"/>
            <a:ext cx="8869680" cy="960120"/>
          </a:xfrm>
          <a:prstGeom prst="rect">
            <a:avLst/>
          </a:prstGeom>
          <a:noFill/>
          <a:ln/>
        </p:spPr>
        <p:txBody>
          <a:bodyPr wrap="square" lIns="0" tIns="0" rIns="0" bIns="0" rtlCol="0" anchor="ctr"/>
          <a:lstStyle/>
          <a:p>
            <a:pPr indent="0" marL="0">
              <a:buNone/>
            </a:pPr>
            <a:r>
              <a:rPr lang="en-US" sz="1800" dirty="0">
                <a:solidFill>
                  <a:srgbClr val="2C322C"/>
                </a:solidFill>
                <a:latin typeface="Calibri" pitchFamily="34" charset="0"/>
                <a:ea typeface="Calibri" pitchFamily="34" charset="-122"/>
                <a:cs typeface="Calibri" pitchFamily="34" charset="-120"/>
              </a:rPr>
              <a:t>Filtrado adaptativo de ruido (innovación RF-23).</a:t>
            </a:r>
            <a:endParaRPr lang="en-US" sz="1800" dirty="0"/>
          </a:p>
        </p:txBody>
      </p:sp>
      <p:sp>
        <p:nvSpPr>
          <p:cNvPr id="17" name="Text 15"/>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6A706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22C"/>
        </a:solidFill>
      </p:bgPr>
    </p:bg>
    <p:spTree>
      <p:nvGrpSpPr>
        <p:cNvPr id="1" name=""/>
        <p:cNvGrpSpPr/>
        <p:nvPr/>
      </p:nvGrpSpPr>
      <p:grpSpPr>
        <a:xfrm>
          <a:off x="0" y="0"/>
          <a:ext cx="0" cy="0"/>
          <a:chOff x="0" y="0"/>
          <a:chExt cx="0" cy="0"/>
        </a:xfrm>
      </p:grpSpPr>
      <p:sp>
        <p:nvSpPr>
          <p:cNvPr id="2" name="Text 0"/>
          <p:cNvSpPr/>
          <p:nvPr/>
        </p:nvSpPr>
        <p:spPr>
          <a:xfrm>
            <a:off x="685800" y="292608"/>
            <a:ext cx="7772400" cy="256032"/>
          </a:xfrm>
          <a:prstGeom prst="rect">
            <a:avLst/>
          </a:prstGeom>
          <a:noFill/>
          <a:ln/>
        </p:spPr>
        <p:txBody>
          <a:bodyPr wrap="square" lIns="0" tIns="0" rIns="0" bIns="0" rtlCol="0" anchor="ctr"/>
          <a:lstStyle/>
          <a:p>
            <a:pPr indent="0" marL="0">
              <a:buNone/>
            </a:pPr>
            <a:r>
              <a:rPr lang="en-US" sz="1100" spc="220" kern="0" dirty="0">
                <a:solidFill>
                  <a:srgbClr val="C8C4B8"/>
                </a:solidFill>
                <a:latin typeface="Calibri" pitchFamily="34" charset="0"/>
                <a:ea typeface="Calibri" pitchFamily="34" charset="-122"/>
                <a:cs typeface="Calibri" pitchFamily="34" charset="-120"/>
              </a:rPr>
              <a:t>PLAN B Y CIERRE</a:t>
            </a:r>
            <a:endParaRPr lang="en-US" sz="1100" dirty="0"/>
          </a:p>
        </p:txBody>
      </p:sp>
      <p:sp>
        <p:nvSpPr>
          <p:cNvPr id="3" name="Text 1"/>
          <p:cNvSpPr/>
          <p:nvPr/>
        </p:nvSpPr>
        <p:spPr>
          <a:xfrm>
            <a:off x="10042855" y="292608"/>
            <a:ext cx="1463040" cy="256032"/>
          </a:xfrm>
          <a:prstGeom prst="rect">
            <a:avLst/>
          </a:prstGeom>
          <a:noFill/>
          <a:ln/>
        </p:spPr>
        <p:txBody>
          <a:bodyPr wrap="square" lIns="0" tIns="0" rIns="0" bIns="0" rtlCol="0" anchor="ctr"/>
          <a:lstStyle/>
          <a:p>
            <a:pPr algn="r" indent="0" marL="0">
              <a:buNone/>
            </a:pPr>
            <a:r>
              <a:rPr lang="en-US" sz="1100" dirty="0">
                <a:solidFill>
                  <a:srgbClr val="C8C4B8"/>
                </a:solidFill>
                <a:latin typeface="Calibri" pitchFamily="34" charset="0"/>
                <a:ea typeface="Calibri" pitchFamily="34" charset="-122"/>
                <a:cs typeface="Calibri" pitchFamily="34" charset="-120"/>
              </a:rPr>
              <a:t>12 / 12</a:t>
            </a:r>
            <a:endParaRPr lang="en-US" sz="1100" dirty="0"/>
          </a:p>
        </p:txBody>
      </p:sp>
      <p:sp>
        <p:nvSpPr>
          <p:cNvPr id="4" name="Text 2"/>
          <p:cNvSpPr/>
          <p:nvPr/>
        </p:nvSpPr>
        <p:spPr>
          <a:xfrm>
            <a:off x="685800" y="1188720"/>
            <a:ext cx="10515600" cy="731520"/>
          </a:xfrm>
          <a:prstGeom prst="rect">
            <a:avLst/>
          </a:prstGeom>
          <a:noFill/>
          <a:ln/>
        </p:spPr>
        <p:txBody>
          <a:bodyPr wrap="square" lIns="0" tIns="0" rIns="0" bIns="0" rtlCol="0" anchor="ctr"/>
          <a:lstStyle/>
          <a:p>
            <a:pPr indent="0" marL="0">
              <a:buNone/>
            </a:pPr>
            <a:r>
              <a:rPr lang="en-US" sz="3000" dirty="0">
                <a:solidFill>
                  <a:srgbClr val="F4F2EC"/>
                </a:solidFill>
                <a:latin typeface="Georgia" pitchFamily="34" charset="0"/>
                <a:ea typeface="Georgia" pitchFamily="34" charset="-122"/>
                <a:cs typeface="Georgia" pitchFamily="34" charset="-120"/>
              </a:rPr>
              <a:t>Si el aula falla, no improvisamos un host.</a:t>
            </a:r>
            <a:endParaRPr lang="en-US" sz="3000" dirty="0"/>
          </a:p>
        </p:txBody>
      </p:sp>
      <p:sp>
        <p:nvSpPr>
          <p:cNvPr id="5" name="Text 3"/>
          <p:cNvSpPr/>
          <p:nvPr/>
        </p:nvSpPr>
        <p:spPr>
          <a:xfrm>
            <a:off x="685800" y="2194560"/>
            <a:ext cx="10058400" cy="2194560"/>
          </a:xfrm>
          <a:prstGeom prst="rect">
            <a:avLst/>
          </a:prstGeom>
          <a:noFill/>
          <a:ln/>
        </p:spPr>
        <p:txBody>
          <a:bodyPr wrap="square" lIns="0" tIns="0" rIns="0" bIns="0" rtlCol="0" anchor="ctr"/>
          <a:lstStyle/>
          <a:p>
            <a:pPr indent="0" marL="0">
              <a:buNone/>
            </a:pPr>
            <a:r>
              <a:rPr lang="en-US" sz="1800" dirty="0">
                <a:solidFill>
                  <a:srgbClr val="C8C4B8"/>
                </a:solidFill>
                <a:latin typeface="Calibri" pitchFamily="34" charset="0"/>
                <a:ea typeface="Calibri" pitchFamily="34" charset="-122"/>
                <a:cs typeface="Calibri" pitchFamily="34" charset="-120"/>
              </a:rPr>
              <a:t>Ensayo de UI  ·  pnpm build:ensayo  +  #practice-mock</a:t>
            </a:r>
            <a:endParaRPr lang="en-US" sz="1800" dirty="0"/>
          </a:p>
          <a:p>
            <a:pPr indent="0" marL="0">
              <a:buNone/>
            </a:pPr>
            <a:r>
              <a:rPr lang="en-US" sz="1800" dirty="0">
                <a:solidFill>
                  <a:srgbClr val="C8C4B8"/>
                </a:solidFill>
                <a:latin typeface="Calibri" pitchFamily="34" charset="0"/>
                <a:ea typeface="Calibri" pitchFamily="34" charset="-122"/>
                <a:cs typeface="Calibri" pitchFamily="34" charset="-120"/>
              </a:rPr>
              <a:t>Maniquí Playwright  ·  #shell-preview-filled</a:t>
            </a:r>
            <a:endParaRPr lang="en-US" sz="1800" dirty="0"/>
          </a:p>
          <a:p>
            <a:pPr indent="0" marL="0">
              <a:buNone/>
            </a:pPr>
            <a:r>
              <a:rPr lang="en-US" sz="1800" dirty="0">
                <a:solidFill>
                  <a:srgbClr val="C8C4B8"/>
                </a:solidFill>
                <a:latin typeface="Calibri" pitchFamily="34" charset="0"/>
                <a:ea typeface="Calibri" pitchFamily="34" charset="-122"/>
                <a:cs typeface="Calibri" pitchFamily="34" charset="-120"/>
              </a:rPr>
              <a:t>Perfil rápido  ·  pnpm dev:latency  (tiny-en, cifra no medida)</a:t>
            </a:r>
            <a:endParaRPr lang="en-US" sz="1800" dirty="0"/>
          </a:p>
          <a:p>
            <a:pPr indent="0" marL="0">
              <a:buNone/>
            </a:pPr>
            <a:r>
              <a:rPr lang="en-US" sz="1800" dirty="0">
                <a:solidFill>
                  <a:srgbClr val="C8C4B8"/>
                </a:solidFill>
                <a:latin typeface="Calibri" pitchFamily="34" charset="0"/>
                <a:ea typeface="Calibri" pitchFamily="34" charset="-122"/>
                <a:cs typeface="Calibri" pitchFamily="34" charset="-120"/>
              </a:rPr>
              <a:t>Preguntas: Nyquist, FFT propia, WER, por qué no Vercel.</a:t>
            </a:r>
            <a:endParaRPr lang="en-US" sz="1800" dirty="0"/>
          </a:p>
        </p:txBody>
      </p:sp>
      <p:sp>
        <p:nvSpPr>
          <p:cNvPr id="6" name="Text 4"/>
          <p:cNvSpPr/>
          <p:nvPr/>
        </p:nvSpPr>
        <p:spPr>
          <a:xfrm>
            <a:off x="685800" y="4937760"/>
            <a:ext cx="10058400" cy="548640"/>
          </a:xfrm>
          <a:prstGeom prst="rect">
            <a:avLst/>
          </a:prstGeom>
          <a:noFill/>
          <a:ln/>
        </p:spPr>
        <p:txBody>
          <a:bodyPr wrap="square" lIns="0" tIns="0" rIns="0" bIns="0" rtlCol="0" anchor="ctr"/>
          <a:lstStyle/>
          <a:p>
            <a:pPr indent="0" marL="0">
              <a:buNone/>
            </a:pPr>
            <a:r>
              <a:rPr lang="en-US" sz="2200" dirty="0">
                <a:solidFill>
                  <a:srgbClr val="F4F2EC"/>
                </a:solidFill>
                <a:latin typeface="Georgia" pitchFamily="34" charset="0"/>
                <a:ea typeface="Georgia" pitchFamily="34" charset="-122"/>
                <a:cs typeface="Georgia" pitchFamily="34" charset="-120"/>
              </a:rPr>
              <a:t>Gracias. ¿Preguntas?</a:t>
            </a:r>
            <a:endParaRPr lang="en-US" sz="2200" dirty="0"/>
          </a:p>
        </p:txBody>
      </p:sp>
      <p:sp>
        <p:nvSpPr>
          <p:cNvPr id="7" name="Text 5"/>
          <p:cNvSpPr/>
          <p:nvPr/>
        </p:nvSpPr>
        <p:spPr>
          <a:xfrm>
            <a:off x="685800" y="6510528"/>
            <a:ext cx="10820095" cy="201168"/>
          </a:xfrm>
          <a:prstGeom prst="rect">
            <a:avLst/>
          </a:prstGeom>
          <a:noFill/>
          <a:ln/>
        </p:spPr>
        <p:txBody>
          <a:bodyPr wrap="square" lIns="0" tIns="0" rIns="0" bIns="0" rtlCol="0" anchor="ctr"/>
          <a:lstStyle/>
          <a:p>
            <a:pPr indent="0" marL="0">
              <a:buNone/>
            </a:pPr>
            <a:r>
              <a:rPr lang="en-US" sz="1000" dirty="0">
                <a:solidFill>
                  <a:srgbClr val="C8C4B8"/>
                </a:solidFill>
                <a:latin typeface="Calibri" pitchFamily="34" charset="0"/>
                <a:ea typeface="Calibri" pitchFamily="34" charset="-122"/>
                <a:cs typeface="Calibri" pitchFamily="34" charset="-120"/>
              </a:rPr>
              <a:t>My Personal English Teacher  ·  Avance 2  ·  localhost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Personal English Teacher — Avance 2</dc:title>
  <dc:subject>Presentación 10-15 min + guion de demo localhost</dc:subject>
  <dc:creator>Equipo Señales y Sistemas</dc:creator>
  <cp:lastModifiedBy>Equipo Señales y Sistemas</cp:lastModifiedBy>
  <cp:revision>1</cp:revision>
  <dcterms:created xsi:type="dcterms:W3CDTF">2026-08-17T10:14:01Z</dcterms:created>
  <dcterms:modified xsi:type="dcterms:W3CDTF">2026-08-17T10:14:01Z</dcterms:modified>
</cp:coreProperties>
</file>